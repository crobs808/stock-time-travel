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acifico"/>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acifico-regular.fnt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c9f2afa6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c9f2afa6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7dd704c2e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7dd704c2e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7dd704c2e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7dd704c2e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dd704c2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dd704c2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7dde5c53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7dde5c53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7dde5c533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dde5c533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7dde5c533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7dde5c533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6e2c27b8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6e2c27b8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e2c27b8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e2c27b8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5.png"/><Relationship Id="rId13" Type="http://schemas.openxmlformats.org/officeDocument/2006/relationships/image" Target="../media/image3.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9.png"/><Relationship Id="rId15" Type="http://schemas.openxmlformats.org/officeDocument/2006/relationships/image" Target="../media/image6.png"/><Relationship Id="rId14" Type="http://schemas.openxmlformats.org/officeDocument/2006/relationships/image" Target="../media/image2.png"/><Relationship Id="rId16"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7.png"/><Relationship Id="rId13" Type="http://schemas.openxmlformats.org/officeDocument/2006/relationships/image" Target="../media/image26.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15.png"/><Relationship Id="rId7" Type="http://schemas.openxmlformats.org/officeDocument/2006/relationships/image" Target="../media/image4.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5.png"/><Relationship Id="rId13" Type="http://schemas.openxmlformats.org/officeDocument/2006/relationships/image" Target="../media/image3.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9.png"/><Relationship Id="rId15" Type="http://schemas.openxmlformats.org/officeDocument/2006/relationships/image" Target="../media/image6.png"/><Relationship Id="rId14" Type="http://schemas.openxmlformats.org/officeDocument/2006/relationships/image" Target="../media/image2.png"/><Relationship Id="rId16"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5.png"/><Relationship Id="rId13" Type="http://schemas.openxmlformats.org/officeDocument/2006/relationships/image" Target="../media/image3.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9.png"/><Relationship Id="rId15" Type="http://schemas.openxmlformats.org/officeDocument/2006/relationships/image" Target="../media/image24.png"/><Relationship Id="rId14" Type="http://schemas.openxmlformats.org/officeDocument/2006/relationships/image" Target="../media/image2.png"/><Relationship Id="rId16"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nerdwallet.com/blog/taxes/capital-gains-tax-rat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53" name="Shape 53"/>
        <p:cNvGrpSpPr/>
        <p:nvPr/>
      </p:nvGrpSpPr>
      <p:grpSpPr>
        <a:xfrm>
          <a:off x="0" y="0"/>
          <a:ext cx="0" cy="0"/>
          <a:chOff x="0" y="0"/>
          <a:chExt cx="0" cy="0"/>
        </a:xfrm>
      </p:grpSpPr>
      <p:cxnSp>
        <p:nvCxnSpPr>
          <p:cNvPr id="54" name="Google Shape;54;p13"/>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13"/>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sp>
        <p:nvSpPr>
          <p:cNvPr id="56" name="Google Shape;56;p13"/>
          <p:cNvSpPr txBox="1"/>
          <p:nvPr/>
        </p:nvSpPr>
        <p:spPr>
          <a:xfrm>
            <a:off x="2778350" y="71250"/>
            <a:ext cx="2671500" cy="48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latin typeface="Pacifico"/>
                <a:ea typeface="Pacifico"/>
                <a:cs typeface="Pacifico"/>
                <a:sym typeface="Pacifico"/>
              </a:rPr>
              <a:t>Stock Market Time Travel:</a:t>
            </a:r>
            <a:endParaRPr sz="4800">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A game randomizing historical stock returns for fun &amp; stock trading practice</a:t>
            </a:r>
            <a:endParaRPr>
              <a:latin typeface="Pacifico"/>
              <a:ea typeface="Pacifico"/>
              <a:cs typeface="Pacifico"/>
              <a:sym typeface="Pacifico"/>
            </a:endParaRPr>
          </a:p>
        </p:txBody>
      </p:sp>
      <p:sp>
        <p:nvSpPr>
          <p:cNvPr id="57" name="Google Shape;57;p13"/>
          <p:cNvSpPr txBox="1"/>
          <p:nvPr/>
        </p:nvSpPr>
        <p:spPr>
          <a:xfrm>
            <a:off x="128225" y="270700"/>
            <a:ext cx="1289400" cy="3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Opening Screen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61" name="Shape 61"/>
        <p:cNvGrpSpPr/>
        <p:nvPr/>
      </p:nvGrpSpPr>
      <p:grpSpPr>
        <a:xfrm>
          <a:off x="0" y="0"/>
          <a:ext cx="0" cy="0"/>
          <a:chOff x="0" y="0"/>
          <a:chExt cx="0" cy="0"/>
        </a:xfrm>
      </p:grpSpPr>
      <p:cxnSp>
        <p:nvCxnSpPr>
          <p:cNvPr id="62" name="Google Shape;62;p14"/>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14"/>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sp>
        <p:nvSpPr>
          <p:cNvPr id="64" name="Google Shape;64;p14"/>
          <p:cNvSpPr txBox="1"/>
          <p:nvPr/>
        </p:nvSpPr>
        <p:spPr>
          <a:xfrm>
            <a:off x="2778350" y="71250"/>
            <a:ext cx="2671500" cy="48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latin typeface="Pacifico"/>
                <a:ea typeface="Pacifico"/>
                <a:cs typeface="Pacifico"/>
                <a:sym typeface="Pacifico"/>
              </a:rPr>
              <a:t>Rules: </a:t>
            </a:r>
            <a:endParaRPr sz="4800">
              <a:latin typeface="Pacifico"/>
              <a:ea typeface="Pacifico"/>
              <a:cs typeface="Pacifico"/>
              <a:sym typeface="Pacifico"/>
            </a:endParaRPr>
          </a:p>
          <a:p>
            <a:pPr indent="0" lvl="0" marL="0" rtl="0" algn="ctr">
              <a:spcBef>
                <a:spcPts val="0"/>
              </a:spcBef>
              <a:spcAft>
                <a:spcPts val="0"/>
              </a:spcAft>
              <a:buNone/>
            </a:pPr>
            <a:r>
              <a:t/>
            </a:r>
            <a:endParaRPr sz="4800">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Use your fake $100 to buy shares of the stocks offered</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Push the arrow by the randomized year to take a journey to the returns from a randomized year from the 2000</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l">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Rinse &amp; Repeat</a:t>
            </a:r>
            <a:endParaRPr>
              <a:latin typeface="Pacifico"/>
              <a:ea typeface="Pacifico"/>
              <a:cs typeface="Pacifico"/>
              <a:sym typeface="Pacifico"/>
            </a:endParaRPr>
          </a:p>
          <a:p>
            <a:pPr indent="0" lvl="0" marL="0" rtl="0" algn="ctr">
              <a:spcBef>
                <a:spcPts val="0"/>
              </a:spcBef>
              <a:spcAft>
                <a:spcPts val="0"/>
              </a:spcAft>
              <a:buNone/>
            </a:pPr>
            <a:r>
              <a:t/>
            </a:r>
            <a:endParaRPr sz="4800">
              <a:latin typeface="Pacifico"/>
              <a:ea typeface="Pacifico"/>
              <a:cs typeface="Pacifico"/>
              <a:sym typeface="Pacifico"/>
            </a:endParaRPr>
          </a:p>
        </p:txBody>
      </p:sp>
      <p:sp>
        <p:nvSpPr>
          <p:cNvPr id="65" name="Google Shape;65;p14"/>
          <p:cNvSpPr txBox="1"/>
          <p:nvPr/>
        </p:nvSpPr>
        <p:spPr>
          <a:xfrm>
            <a:off x="156725" y="270700"/>
            <a:ext cx="12039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2nd Screen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69" name="Shape 69"/>
        <p:cNvGrpSpPr/>
        <p:nvPr/>
      </p:nvGrpSpPr>
      <p:grpSpPr>
        <a:xfrm>
          <a:off x="0" y="0"/>
          <a:ext cx="0" cy="0"/>
          <a:chOff x="0" y="0"/>
          <a:chExt cx="0" cy="0"/>
        </a:xfrm>
      </p:grpSpPr>
      <p:cxnSp>
        <p:nvCxnSpPr>
          <p:cNvPr id="70" name="Google Shape;70;p15"/>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15"/>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15"/>
          <p:cNvSpPr txBox="1"/>
          <p:nvPr/>
        </p:nvSpPr>
        <p:spPr>
          <a:xfrm>
            <a:off x="2778350" y="71250"/>
            <a:ext cx="2671500" cy="48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latin typeface="Pacifico"/>
                <a:ea typeface="Pacifico"/>
                <a:cs typeface="Pacifico"/>
                <a:sym typeface="Pacifico"/>
              </a:rPr>
              <a:t>Pro Tips</a:t>
            </a:r>
            <a:r>
              <a:rPr lang="en" sz="4800">
                <a:latin typeface="Pacifico"/>
                <a:ea typeface="Pacifico"/>
                <a:cs typeface="Pacifico"/>
                <a:sym typeface="Pacifico"/>
              </a:rPr>
              <a:t>: </a:t>
            </a:r>
            <a:endParaRPr>
              <a:latin typeface="Pacifico"/>
              <a:ea typeface="Pacifico"/>
              <a:cs typeface="Pacifico"/>
              <a:sym typeface="Pacifico"/>
            </a:endParaRPr>
          </a:p>
          <a:p>
            <a:pPr indent="0" lvl="0" marL="0" rtl="0" algn="l">
              <a:spcBef>
                <a:spcPts val="0"/>
              </a:spcBef>
              <a:spcAft>
                <a:spcPts val="0"/>
              </a:spcAft>
              <a:buNone/>
            </a:pPr>
            <a:r>
              <a:t/>
            </a:r>
            <a:endParaRPr>
              <a:latin typeface="Pacifico"/>
              <a:ea typeface="Pacifico"/>
              <a:cs typeface="Pacifico"/>
              <a:sym typeface="Pacifico"/>
            </a:endParaRPr>
          </a:p>
          <a:p>
            <a:pPr indent="0" lvl="0" marL="0" rtl="0" algn="l">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History tends to repeat itself, but does not always</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There will be ups &amp; downs</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This is based on historical data, but all data is flawed</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Only invest what you can afford to lose</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Have some FUN</a:t>
            </a:r>
            <a:endParaRPr>
              <a:latin typeface="Pacifico"/>
              <a:ea typeface="Pacifico"/>
              <a:cs typeface="Pacifico"/>
              <a:sym typeface="Pacifico"/>
            </a:endParaRPr>
          </a:p>
          <a:p>
            <a:pPr indent="0" lvl="0" marL="0" rtl="0" algn="ctr">
              <a:spcBef>
                <a:spcPts val="0"/>
              </a:spcBef>
              <a:spcAft>
                <a:spcPts val="0"/>
              </a:spcAft>
              <a:buNone/>
            </a:pPr>
            <a:r>
              <a:t/>
            </a:r>
            <a:endParaRPr sz="4800">
              <a:latin typeface="Pacifico"/>
              <a:ea typeface="Pacifico"/>
              <a:cs typeface="Pacifico"/>
              <a:sym typeface="Pacifico"/>
            </a:endParaRPr>
          </a:p>
        </p:txBody>
      </p:sp>
      <p:sp>
        <p:nvSpPr>
          <p:cNvPr id="73" name="Google Shape;73;p15"/>
          <p:cNvSpPr txBox="1"/>
          <p:nvPr/>
        </p:nvSpPr>
        <p:spPr>
          <a:xfrm>
            <a:off x="220850" y="341950"/>
            <a:ext cx="15030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3rd Screen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77" name="Shape 77"/>
        <p:cNvGrpSpPr/>
        <p:nvPr/>
      </p:nvGrpSpPr>
      <p:grpSpPr>
        <a:xfrm>
          <a:off x="0" y="0"/>
          <a:ext cx="0" cy="0"/>
          <a:chOff x="0" y="0"/>
          <a:chExt cx="0" cy="0"/>
        </a:xfrm>
      </p:grpSpPr>
      <p:cxnSp>
        <p:nvCxnSpPr>
          <p:cNvPr id="78" name="Google Shape;78;p16"/>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16"/>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pic>
        <p:nvPicPr>
          <p:cNvPr id="80" name="Google Shape;80;p16"/>
          <p:cNvPicPr preferRelativeResize="0"/>
          <p:nvPr/>
        </p:nvPicPr>
        <p:blipFill>
          <a:blip r:embed="rId3">
            <a:alphaModFix/>
          </a:blip>
          <a:stretch>
            <a:fillRect/>
          </a:stretch>
        </p:blipFill>
        <p:spPr>
          <a:xfrm>
            <a:off x="2746225" y="3147656"/>
            <a:ext cx="740425" cy="425319"/>
          </a:xfrm>
          <a:prstGeom prst="rect">
            <a:avLst/>
          </a:prstGeom>
          <a:noFill/>
          <a:ln>
            <a:noFill/>
          </a:ln>
        </p:spPr>
      </p:pic>
      <p:pic>
        <p:nvPicPr>
          <p:cNvPr id="81" name="Google Shape;81;p16"/>
          <p:cNvPicPr preferRelativeResize="0"/>
          <p:nvPr/>
        </p:nvPicPr>
        <p:blipFill>
          <a:blip r:embed="rId4">
            <a:alphaModFix/>
          </a:blip>
          <a:stretch>
            <a:fillRect/>
          </a:stretch>
        </p:blipFill>
        <p:spPr>
          <a:xfrm>
            <a:off x="3683612" y="3145878"/>
            <a:ext cx="740451" cy="422009"/>
          </a:xfrm>
          <a:prstGeom prst="rect">
            <a:avLst/>
          </a:prstGeom>
          <a:noFill/>
          <a:ln>
            <a:noFill/>
          </a:ln>
        </p:spPr>
      </p:pic>
      <p:pic>
        <p:nvPicPr>
          <p:cNvPr id="82" name="Google Shape;82;p16"/>
          <p:cNvPicPr preferRelativeResize="0"/>
          <p:nvPr/>
        </p:nvPicPr>
        <p:blipFill>
          <a:blip r:embed="rId5">
            <a:alphaModFix/>
          </a:blip>
          <a:stretch>
            <a:fillRect/>
          </a:stretch>
        </p:blipFill>
        <p:spPr>
          <a:xfrm>
            <a:off x="3741512" y="4676012"/>
            <a:ext cx="740425" cy="421472"/>
          </a:xfrm>
          <a:prstGeom prst="rect">
            <a:avLst/>
          </a:prstGeom>
          <a:noFill/>
          <a:ln>
            <a:noFill/>
          </a:ln>
        </p:spPr>
      </p:pic>
      <p:pic>
        <p:nvPicPr>
          <p:cNvPr id="83" name="Google Shape;83;p16"/>
          <p:cNvPicPr preferRelativeResize="0"/>
          <p:nvPr/>
        </p:nvPicPr>
        <p:blipFill>
          <a:blip r:embed="rId6">
            <a:alphaModFix/>
          </a:blip>
          <a:stretch>
            <a:fillRect/>
          </a:stretch>
        </p:blipFill>
        <p:spPr>
          <a:xfrm>
            <a:off x="4706450" y="4675547"/>
            <a:ext cx="740423" cy="422399"/>
          </a:xfrm>
          <a:prstGeom prst="rect">
            <a:avLst/>
          </a:prstGeom>
          <a:noFill/>
          <a:ln>
            <a:noFill/>
          </a:ln>
        </p:spPr>
      </p:pic>
      <p:pic>
        <p:nvPicPr>
          <p:cNvPr id="84" name="Google Shape;84;p16"/>
          <p:cNvPicPr preferRelativeResize="0"/>
          <p:nvPr/>
        </p:nvPicPr>
        <p:blipFill>
          <a:blip r:embed="rId7">
            <a:alphaModFix/>
          </a:blip>
          <a:stretch>
            <a:fillRect/>
          </a:stretch>
        </p:blipFill>
        <p:spPr>
          <a:xfrm>
            <a:off x="3721575" y="3909264"/>
            <a:ext cx="750025" cy="425325"/>
          </a:xfrm>
          <a:prstGeom prst="rect">
            <a:avLst/>
          </a:prstGeom>
          <a:noFill/>
          <a:ln>
            <a:noFill/>
          </a:ln>
        </p:spPr>
      </p:pic>
      <p:pic>
        <p:nvPicPr>
          <p:cNvPr id="85" name="Google Shape;85;p16"/>
          <p:cNvPicPr preferRelativeResize="0"/>
          <p:nvPr/>
        </p:nvPicPr>
        <p:blipFill>
          <a:blip r:embed="rId8">
            <a:alphaModFix/>
          </a:blip>
          <a:stretch>
            <a:fillRect/>
          </a:stretch>
        </p:blipFill>
        <p:spPr>
          <a:xfrm>
            <a:off x="2749899" y="2152268"/>
            <a:ext cx="733100" cy="419020"/>
          </a:xfrm>
          <a:prstGeom prst="rect">
            <a:avLst/>
          </a:prstGeom>
          <a:noFill/>
          <a:ln>
            <a:noFill/>
          </a:ln>
        </p:spPr>
      </p:pic>
      <p:pic>
        <p:nvPicPr>
          <p:cNvPr id="86" name="Google Shape;86;p16"/>
          <p:cNvPicPr preferRelativeResize="0"/>
          <p:nvPr/>
        </p:nvPicPr>
        <p:blipFill>
          <a:blip r:embed="rId9">
            <a:alphaModFix/>
          </a:blip>
          <a:stretch>
            <a:fillRect/>
          </a:stretch>
        </p:blipFill>
        <p:spPr>
          <a:xfrm>
            <a:off x="3678823" y="1725936"/>
            <a:ext cx="750025" cy="426339"/>
          </a:xfrm>
          <a:prstGeom prst="rect">
            <a:avLst/>
          </a:prstGeom>
          <a:noFill/>
          <a:ln>
            <a:noFill/>
          </a:ln>
        </p:spPr>
      </p:pic>
      <p:pic>
        <p:nvPicPr>
          <p:cNvPr id="87" name="Google Shape;87;p16"/>
          <p:cNvPicPr preferRelativeResize="0"/>
          <p:nvPr/>
        </p:nvPicPr>
        <p:blipFill>
          <a:blip r:embed="rId10">
            <a:alphaModFix/>
          </a:blip>
          <a:stretch>
            <a:fillRect/>
          </a:stretch>
        </p:blipFill>
        <p:spPr>
          <a:xfrm>
            <a:off x="2746223" y="3915313"/>
            <a:ext cx="733099" cy="418812"/>
          </a:xfrm>
          <a:prstGeom prst="rect">
            <a:avLst/>
          </a:prstGeom>
          <a:noFill/>
          <a:ln>
            <a:noFill/>
          </a:ln>
        </p:spPr>
      </p:pic>
      <p:pic>
        <p:nvPicPr>
          <p:cNvPr id="88" name="Google Shape;88;p16"/>
          <p:cNvPicPr preferRelativeResize="0"/>
          <p:nvPr/>
        </p:nvPicPr>
        <p:blipFill>
          <a:blip r:embed="rId11">
            <a:alphaModFix/>
          </a:blip>
          <a:stretch>
            <a:fillRect/>
          </a:stretch>
        </p:blipFill>
        <p:spPr>
          <a:xfrm>
            <a:off x="4713850" y="3915324"/>
            <a:ext cx="740425" cy="422889"/>
          </a:xfrm>
          <a:prstGeom prst="rect">
            <a:avLst/>
          </a:prstGeom>
          <a:noFill/>
          <a:ln>
            <a:noFill/>
          </a:ln>
        </p:spPr>
      </p:pic>
      <p:pic>
        <p:nvPicPr>
          <p:cNvPr id="89" name="Google Shape;89;p16"/>
          <p:cNvPicPr preferRelativeResize="0"/>
          <p:nvPr/>
        </p:nvPicPr>
        <p:blipFill>
          <a:blip r:embed="rId12">
            <a:alphaModFix/>
          </a:blip>
          <a:stretch>
            <a:fillRect/>
          </a:stretch>
        </p:blipFill>
        <p:spPr>
          <a:xfrm>
            <a:off x="4706523" y="3147062"/>
            <a:ext cx="733091" cy="419625"/>
          </a:xfrm>
          <a:prstGeom prst="rect">
            <a:avLst/>
          </a:prstGeom>
          <a:noFill/>
          <a:ln>
            <a:noFill/>
          </a:ln>
        </p:spPr>
      </p:pic>
      <p:pic>
        <p:nvPicPr>
          <p:cNvPr id="90" name="Google Shape;90;p16"/>
          <p:cNvPicPr preferRelativeResize="0"/>
          <p:nvPr/>
        </p:nvPicPr>
        <p:blipFill>
          <a:blip r:embed="rId13">
            <a:alphaModFix/>
          </a:blip>
          <a:stretch>
            <a:fillRect/>
          </a:stretch>
        </p:blipFill>
        <p:spPr>
          <a:xfrm>
            <a:off x="4706526" y="2154041"/>
            <a:ext cx="733100" cy="415509"/>
          </a:xfrm>
          <a:prstGeom prst="rect">
            <a:avLst/>
          </a:prstGeom>
          <a:noFill/>
          <a:ln>
            <a:noFill/>
          </a:ln>
        </p:spPr>
      </p:pic>
      <p:pic>
        <p:nvPicPr>
          <p:cNvPr id="91" name="Google Shape;91;p16"/>
          <p:cNvPicPr preferRelativeResize="0"/>
          <p:nvPr/>
        </p:nvPicPr>
        <p:blipFill>
          <a:blip r:embed="rId14">
            <a:alphaModFix/>
          </a:blip>
          <a:stretch>
            <a:fillRect/>
          </a:stretch>
        </p:blipFill>
        <p:spPr>
          <a:xfrm>
            <a:off x="3683628" y="2438136"/>
            <a:ext cx="740424" cy="421891"/>
          </a:xfrm>
          <a:prstGeom prst="rect">
            <a:avLst/>
          </a:prstGeom>
          <a:noFill/>
          <a:ln>
            <a:noFill/>
          </a:ln>
        </p:spPr>
      </p:pic>
      <p:sp>
        <p:nvSpPr>
          <p:cNvPr id="92" name="Google Shape;92;p16"/>
          <p:cNvSpPr txBox="1"/>
          <p:nvPr/>
        </p:nvSpPr>
        <p:spPr>
          <a:xfrm>
            <a:off x="2827988"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3" name="Google Shape;93;p16"/>
          <p:cNvSpPr/>
          <p:nvPr/>
        </p:nvSpPr>
        <p:spPr>
          <a:xfrm>
            <a:off x="4713838" y="677750"/>
            <a:ext cx="323100" cy="187500"/>
          </a:xfrm>
          <a:prstGeom prst="leftRightArrow">
            <a:avLst>
              <a:gd fmla="val 50000" name="adj1"/>
              <a:gd fmla="val 42973" name="adj2"/>
            </a:avLst>
          </a:prstGeom>
          <a:gradFill>
            <a:gsLst>
              <a:gs pos="0">
                <a:srgbClr val="3177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txBox="1"/>
          <p:nvPr/>
        </p:nvSpPr>
        <p:spPr>
          <a:xfrm>
            <a:off x="3808125"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5" name="Google Shape;95;p16"/>
          <p:cNvSpPr txBox="1"/>
          <p:nvPr/>
        </p:nvSpPr>
        <p:spPr>
          <a:xfrm>
            <a:off x="4788238"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6" name="Google Shape;96;p16"/>
          <p:cNvSpPr txBox="1"/>
          <p:nvPr/>
        </p:nvSpPr>
        <p:spPr>
          <a:xfrm>
            <a:off x="2824313" y="36771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7" name="Google Shape;97;p16"/>
          <p:cNvSpPr txBox="1"/>
          <p:nvPr/>
        </p:nvSpPr>
        <p:spPr>
          <a:xfrm>
            <a:off x="3808138" y="36771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8" name="Google Shape;98;p16"/>
          <p:cNvSpPr txBox="1"/>
          <p:nvPr/>
        </p:nvSpPr>
        <p:spPr>
          <a:xfrm>
            <a:off x="4827588" y="36812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99" name="Google Shape;99;p16"/>
          <p:cNvSpPr txBox="1"/>
          <p:nvPr/>
        </p:nvSpPr>
        <p:spPr>
          <a:xfrm>
            <a:off x="2827988" y="290942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0" name="Google Shape;100;p16"/>
          <p:cNvSpPr txBox="1"/>
          <p:nvPr/>
        </p:nvSpPr>
        <p:spPr>
          <a:xfrm>
            <a:off x="3765375" y="29025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1" name="Google Shape;101;p16"/>
          <p:cNvSpPr txBox="1"/>
          <p:nvPr/>
        </p:nvSpPr>
        <p:spPr>
          <a:xfrm>
            <a:off x="4795613" y="28984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2" name="Google Shape;102;p16"/>
          <p:cNvSpPr txBox="1"/>
          <p:nvPr/>
        </p:nvSpPr>
        <p:spPr>
          <a:xfrm>
            <a:off x="3726350" y="2198663"/>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3" name="Google Shape;103;p16"/>
          <p:cNvSpPr txBox="1"/>
          <p:nvPr/>
        </p:nvSpPr>
        <p:spPr>
          <a:xfrm>
            <a:off x="2827975" y="190352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4" name="Google Shape;104;p16"/>
          <p:cNvSpPr txBox="1"/>
          <p:nvPr/>
        </p:nvSpPr>
        <p:spPr>
          <a:xfrm>
            <a:off x="4795613" y="188157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5" name="Google Shape;105;p16"/>
          <p:cNvSpPr txBox="1"/>
          <p:nvPr/>
        </p:nvSpPr>
        <p:spPr>
          <a:xfrm>
            <a:off x="3765375" y="14948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06" name="Google Shape;106;p16"/>
          <p:cNvSpPr txBox="1"/>
          <p:nvPr/>
        </p:nvSpPr>
        <p:spPr>
          <a:xfrm>
            <a:off x="2952551" y="32750"/>
            <a:ext cx="9837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Cash</a:t>
            </a:r>
            <a:endParaRPr>
              <a:latin typeface="Pacifico"/>
              <a:ea typeface="Pacifico"/>
              <a:cs typeface="Pacifico"/>
              <a:sym typeface="Pacifico"/>
            </a:endParaRPr>
          </a:p>
        </p:txBody>
      </p:sp>
      <p:sp>
        <p:nvSpPr>
          <p:cNvPr id="107" name="Google Shape;107;p16"/>
          <p:cNvSpPr txBox="1"/>
          <p:nvPr/>
        </p:nvSpPr>
        <p:spPr>
          <a:xfrm>
            <a:off x="3101050" y="264050"/>
            <a:ext cx="6867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$100</a:t>
            </a:r>
            <a:endParaRPr>
              <a:latin typeface="Pacifico"/>
              <a:ea typeface="Pacifico"/>
              <a:cs typeface="Pacifico"/>
              <a:sym typeface="Pacifico"/>
            </a:endParaRPr>
          </a:p>
        </p:txBody>
      </p:sp>
      <p:sp>
        <p:nvSpPr>
          <p:cNvPr id="108" name="Google Shape;108;p16"/>
          <p:cNvSpPr txBox="1"/>
          <p:nvPr/>
        </p:nvSpPr>
        <p:spPr>
          <a:xfrm>
            <a:off x="4217950" y="32750"/>
            <a:ext cx="1147200" cy="2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acifico"/>
                <a:ea typeface="Pacifico"/>
                <a:cs typeface="Pacifico"/>
                <a:sym typeface="Pacifico"/>
              </a:rPr>
              <a:t>Investments</a:t>
            </a:r>
            <a:endParaRPr>
              <a:latin typeface="Pacifico"/>
              <a:ea typeface="Pacifico"/>
              <a:cs typeface="Pacifico"/>
              <a:sym typeface="Pacifico"/>
            </a:endParaRPr>
          </a:p>
        </p:txBody>
      </p:sp>
      <p:sp>
        <p:nvSpPr>
          <p:cNvPr id="109" name="Google Shape;109;p16"/>
          <p:cNvSpPr txBox="1"/>
          <p:nvPr/>
        </p:nvSpPr>
        <p:spPr>
          <a:xfrm>
            <a:off x="4385025" y="230225"/>
            <a:ext cx="7500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pic>
        <p:nvPicPr>
          <p:cNvPr id="110" name="Google Shape;110;p16"/>
          <p:cNvPicPr preferRelativeResize="0"/>
          <p:nvPr/>
        </p:nvPicPr>
        <p:blipFill>
          <a:blip r:embed="rId15">
            <a:alphaModFix/>
          </a:blip>
          <a:stretch>
            <a:fillRect/>
          </a:stretch>
        </p:blipFill>
        <p:spPr>
          <a:xfrm>
            <a:off x="3066250" y="620114"/>
            <a:ext cx="1640200" cy="937260"/>
          </a:xfrm>
          <a:prstGeom prst="rect">
            <a:avLst/>
          </a:prstGeom>
          <a:noFill/>
          <a:ln>
            <a:noFill/>
          </a:ln>
        </p:spPr>
      </p:pic>
      <p:sp>
        <p:nvSpPr>
          <p:cNvPr id="111" name="Google Shape;111;p16"/>
          <p:cNvSpPr txBox="1"/>
          <p:nvPr/>
        </p:nvSpPr>
        <p:spPr>
          <a:xfrm>
            <a:off x="4733350" y="914600"/>
            <a:ext cx="686700" cy="47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Year:</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cxnSp>
        <p:nvCxnSpPr>
          <p:cNvPr id="112" name="Google Shape;112;p16"/>
          <p:cNvCxnSpPr>
            <a:stCxn id="80" idx="1"/>
          </p:cNvCxnSpPr>
          <p:nvPr/>
        </p:nvCxnSpPr>
        <p:spPr>
          <a:xfrm rot="10800000">
            <a:off x="1830925" y="2735716"/>
            <a:ext cx="915300" cy="6246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16"/>
          <p:cNvSpPr txBox="1"/>
          <p:nvPr/>
        </p:nvSpPr>
        <p:spPr>
          <a:xfrm>
            <a:off x="178100" y="2051700"/>
            <a:ext cx="1745400" cy="6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Next screen is if you click on this button</a:t>
            </a:r>
            <a:endParaRPr/>
          </a:p>
        </p:txBody>
      </p:sp>
      <p:pic>
        <p:nvPicPr>
          <p:cNvPr id="114" name="Google Shape;114;p16"/>
          <p:cNvPicPr preferRelativeResize="0"/>
          <p:nvPr/>
        </p:nvPicPr>
        <p:blipFill>
          <a:blip r:embed="rId16">
            <a:alphaModFix/>
          </a:blip>
          <a:stretch>
            <a:fillRect/>
          </a:stretch>
        </p:blipFill>
        <p:spPr>
          <a:xfrm>
            <a:off x="2749875" y="4676486"/>
            <a:ext cx="733100" cy="418914"/>
          </a:xfrm>
          <a:prstGeom prst="rect">
            <a:avLst/>
          </a:prstGeom>
          <a:noFill/>
          <a:ln>
            <a:noFill/>
          </a:ln>
        </p:spPr>
      </p:pic>
      <p:cxnSp>
        <p:nvCxnSpPr>
          <p:cNvPr id="115" name="Google Shape;115;p16"/>
          <p:cNvCxnSpPr/>
          <p:nvPr/>
        </p:nvCxnSpPr>
        <p:spPr>
          <a:xfrm rot="10800000">
            <a:off x="2172925" y="1033025"/>
            <a:ext cx="1731000" cy="163800"/>
          </a:xfrm>
          <a:prstGeom prst="straightConnector1">
            <a:avLst/>
          </a:prstGeom>
          <a:noFill/>
          <a:ln cap="flat" cmpd="sng" w="9525">
            <a:solidFill>
              <a:schemeClr val="dk2"/>
            </a:solidFill>
            <a:prstDash val="solid"/>
            <a:round/>
            <a:headEnd len="med" w="med" type="none"/>
            <a:tailEnd len="med" w="med" type="none"/>
          </a:ln>
        </p:spPr>
      </p:cxnSp>
      <p:sp>
        <p:nvSpPr>
          <p:cNvPr id="116" name="Google Shape;116;p16"/>
          <p:cNvSpPr txBox="1"/>
          <p:nvPr/>
        </p:nvSpPr>
        <p:spPr>
          <a:xfrm>
            <a:off x="1025850" y="712400"/>
            <a:ext cx="11472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Misspelled</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20" name="Shape 120"/>
        <p:cNvGrpSpPr/>
        <p:nvPr/>
      </p:nvGrpSpPr>
      <p:grpSpPr>
        <a:xfrm>
          <a:off x="0" y="0"/>
          <a:ext cx="0" cy="0"/>
          <a:chOff x="0" y="0"/>
          <a:chExt cx="0" cy="0"/>
        </a:xfrm>
      </p:grpSpPr>
      <p:cxnSp>
        <p:nvCxnSpPr>
          <p:cNvPr id="121" name="Google Shape;121;p17"/>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122" name="Google Shape;122;p17"/>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pic>
        <p:nvPicPr>
          <p:cNvPr id="123" name="Google Shape;123;p17"/>
          <p:cNvPicPr preferRelativeResize="0"/>
          <p:nvPr/>
        </p:nvPicPr>
        <p:blipFill>
          <a:blip r:embed="rId3">
            <a:alphaModFix/>
          </a:blip>
          <a:stretch>
            <a:fillRect/>
          </a:stretch>
        </p:blipFill>
        <p:spPr>
          <a:xfrm>
            <a:off x="3726375" y="597256"/>
            <a:ext cx="740425" cy="425319"/>
          </a:xfrm>
          <a:prstGeom prst="rect">
            <a:avLst/>
          </a:prstGeom>
          <a:noFill/>
          <a:ln>
            <a:noFill/>
          </a:ln>
        </p:spPr>
      </p:pic>
      <p:sp>
        <p:nvSpPr>
          <p:cNvPr id="124" name="Google Shape;124;p17"/>
          <p:cNvSpPr txBox="1"/>
          <p:nvPr/>
        </p:nvSpPr>
        <p:spPr>
          <a:xfrm>
            <a:off x="2952551" y="32750"/>
            <a:ext cx="9837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Cash</a:t>
            </a:r>
            <a:endParaRPr>
              <a:latin typeface="Pacifico"/>
              <a:ea typeface="Pacifico"/>
              <a:cs typeface="Pacifico"/>
              <a:sym typeface="Pacifico"/>
            </a:endParaRPr>
          </a:p>
        </p:txBody>
      </p:sp>
      <p:sp>
        <p:nvSpPr>
          <p:cNvPr id="125" name="Google Shape;125;p17"/>
          <p:cNvSpPr txBox="1"/>
          <p:nvPr/>
        </p:nvSpPr>
        <p:spPr>
          <a:xfrm>
            <a:off x="3101050" y="264050"/>
            <a:ext cx="6867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$100</a:t>
            </a:r>
            <a:endParaRPr>
              <a:latin typeface="Pacifico"/>
              <a:ea typeface="Pacifico"/>
              <a:cs typeface="Pacifico"/>
              <a:sym typeface="Pacifico"/>
            </a:endParaRPr>
          </a:p>
        </p:txBody>
      </p:sp>
      <p:sp>
        <p:nvSpPr>
          <p:cNvPr id="126" name="Google Shape;126;p17"/>
          <p:cNvSpPr txBox="1"/>
          <p:nvPr/>
        </p:nvSpPr>
        <p:spPr>
          <a:xfrm>
            <a:off x="4217950" y="32750"/>
            <a:ext cx="1147200" cy="2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acifico"/>
                <a:ea typeface="Pacifico"/>
                <a:cs typeface="Pacifico"/>
                <a:sym typeface="Pacifico"/>
              </a:rPr>
              <a:t>Investments</a:t>
            </a:r>
            <a:endParaRPr>
              <a:latin typeface="Pacifico"/>
              <a:ea typeface="Pacifico"/>
              <a:cs typeface="Pacifico"/>
              <a:sym typeface="Pacifico"/>
            </a:endParaRPr>
          </a:p>
        </p:txBody>
      </p:sp>
      <p:sp>
        <p:nvSpPr>
          <p:cNvPr id="127" name="Google Shape;127;p17"/>
          <p:cNvSpPr txBox="1"/>
          <p:nvPr/>
        </p:nvSpPr>
        <p:spPr>
          <a:xfrm>
            <a:off x="4385025" y="230225"/>
            <a:ext cx="7500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sp>
        <p:nvSpPr>
          <p:cNvPr id="128" name="Google Shape;128;p17"/>
          <p:cNvSpPr txBox="1"/>
          <p:nvPr/>
        </p:nvSpPr>
        <p:spPr>
          <a:xfrm>
            <a:off x="99725" y="313450"/>
            <a:ext cx="2023200" cy="4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Click to return to the previous screen</a:t>
            </a:r>
            <a:endParaRPr/>
          </a:p>
        </p:txBody>
      </p:sp>
      <p:sp>
        <p:nvSpPr>
          <p:cNvPr id="129" name="Google Shape;129;p17"/>
          <p:cNvSpPr/>
          <p:nvPr/>
        </p:nvSpPr>
        <p:spPr>
          <a:xfrm>
            <a:off x="3157800" y="724325"/>
            <a:ext cx="270600" cy="199500"/>
          </a:xfrm>
          <a:prstGeom prst="leftArrow">
            <a:avLst>
              <a:gd fmla="val 50000" name="adj1"/>
              <a:gd fmla="val 50000" name="adj2"/>
            </a:avLst>
          </a:prstGeom>
          <a:gradFill>
            <a:gsLst>
              <a:gs pos="0">
                <a:srgbClr val="3177EE"/>
              </a:gs>
              <a:gs pos="100000">
                <a:srgbClr val="113D8A"/>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17"/>
          <p:cNvCxnSpPr>
            <a:stCxn id="129" idx="0"/>
          </p:cNvCxnSpPr>
          <p:nvPr/>
        </p:nvCxnSpPr>
        <p:spPr>
          <a:xfrm rot="10800000">
            <a:off x="1674150" y="626825"/>
            <a:ext cx="1583400" cy="97500"/>
          </a:xfrm>
          <a:prstGeom prst="straightConnector1">
            <a:avLst/>
          </a:prstGeom>
          <a:noFill/>
          <a:ln cap="flat" cmpd="sng" w="9525">
            <a:solidFill>
              <a:schemeClr val="dk2"/>
            </a:solidFill>
            <a:prstDash val="solid"/>
            <a:round/>
            <a:headEnd len="med" w="med" type="none"/>
            <a:tailEnd len="med" w="med" type="none"/>
          </a:ln>
        </p:spPr>
      </p:cxnSp>
      <p:pic>
        <p:nvPicPr>
          <p:cNvPr id="131" name="Google Shape;131;p17"/>
          <p:cNvPicPr preferRelativeResize="0"/>
          <p:nvPr/>
        </p:nvPicPr>
        <p:blipFill>
          <a:blip r:embed="rId4">
            <a:alphaModFix/>
          </a:blip>
          <a:stretch>
            <a:fillRect/>
          </a:stretch>
        </p:blipFill>
        <p:spPr>
          <a:xfrm>
            <a:off x="2952550" y="2735625"/>
            <a:ext cx="872542" cy="498600"/>
          </a:xfrm>
          <a:prstGeom prst="rect">
            <a:avLst/>
          </a:prstGeom>
          <a:noFill/>
          <a:ln>
            <a:noFill/>
          </a:ln>
        </p:spPr>
      </p:pic>
      <p:pic>
        <p:nvPicPr>
          <p:cNvPr id="132" name="Google Shape;132;p17"/>
          <p:cNvPicPr preferRelativeResize="0"/>
          <p:nvPr/>
        </p:nvPicPr>
        <p:blipFill>
          <a:blip r:embed="rId5">
            <a:alphaModFix/>
          </a:blip>
          <a:stretch>
            <a:fillRect/>
          </a:stretch>
        </p:blipFill>
        <p:spPr>
          <a:xfrm>
            <a:off x="2952550" y="3362758"/>
            <a:ext cx="872550" cy="498604"/>
          </a:xfrm>
          <a:prstGeom prst="rect">
            <a:avLst/>
          </a:prstGeom>
          <a:noFill/>
          <a:ln>
            <a:noFill/>
          </a:ln>
        </p:spPr>
      </p:pic>
      <p:pic>
        <p:nvPicPr>
          <p:cNvPr id="133" name="Google Shape;133;p17"/>
          <p:cNvPicPr preferRelativeResize="0"/>
          <p:nvPr/>
        </p:nvPicPr>
        <p:blipFill>
          <a:blip r:embed="rId6">
            <a:alphaModFix/>
          </a:blip>
          <a:stretch>
            <a:fillRect/>
          </a:stretch>
        </p:blipFill>
        <p:spPr>
          <a:xfrm>
            <a:off x="2952550" y="3988588"/>
            <a:ext cx="872542" cy="498600"/>
          </a:xfrm>
          <a:prstGeom prst="rect">
            <a:avLst/>
          </a:prstGeom>
          <a:noFill/>
          <a:ln>
            <a:noFill/>
          </a:ln>
        </p:spPr>
      </p:pic>
      <p:pic>
        <p:nvPicPr>
          <p:cNvPr id="134" name="Google Shape;134;p17"/>
          <p:cNvPicPr preferRelativeResize="0"/>
          <p:nvPr/>
        </p:nvPicPr>
        <p:blipFill>
          <a:blip r:embed="rId7">
            <a:alphaModFix/>
          </a:blip>
          <a:stretch>
            <a:fillRect/>
          </a:stretch>
        </p:blipFill>
        <p:spPr>
          <a:xfrm>
            <a:off x="2952550" y="4614429"/>
            <a:ext cx="872550" cy="498599"/>
          </a:xfrm>
          <a:prstGeom prst="rect">
            <a:avLst/>
          </a:prstGeom>
          <a:noFill/>
          <a:ln>
            <a:noFill/>
          </a:ln>
        </p:spPr>
      </p:pic>
      <p:pic>
        <p:nvPicPr>
          <p:cNvPr id="135" name="Google Shape;135;p17"/>
          <p:cNvPicPr preferRelativeResize="0"/>
          <p:nvPr/>
        </p:nvPicPr>
        <p:blipFill>
          <a:blip r:embed="rId8">
            <a:alphaModFix/>
          </a:blip>
          <a:stretch>
            <a:fillRect/>
          </a:stretch>
        </p:blipFill>
        <p:spPr>
          <a:xfrm>
            <a:off x="7654051" y="2594088"/>
            <a:ext cx="872595" cy="498626"/>
          </a:xfrm>
          <a:prstGeom prst="rect">
            <a:avLst/>
          </a:prstGeom>
          <a:noFill/>
          <a:ln>
            <a:noFill/>
          </a:ln>
        </p:spPr>
      </p:pic>
      <p:pic>
        <p:nvPicPr>
          <p:cNvPr id="136" name="Google Shape;136;p17"/>
          <p:cNvPicPr preferRelativeResize="0"/>
          <p:nvPr/>
        </p:nvPicPr>
        <p:blipFill>
          <a:blip r:embed="rId9">
            <a:alphaModFix/>
          </a:blip>
          <a:stretch>
            <a:fillRect/>
          </a:stretch>
        </p:blipFill>
        <p:spPr>
          <a:xfrm>
            <a:off x="4355251" y="3362100"/>
            <a:ext cx="872595" cy="498625"/>
          </a:xfrm>
          <a:prstGeom prst="rect">
            <a:avLst/>
          </a:prstGeom>
          <a:noFill/>
          <a:ln>
            <a:noFill/>
          </a:ln>
        </p:spPr>
      </p:pic>
      <p:pic>
        <p:nvPicPr>
          <p:cNvPr id="137" name="Google Shape;137;p17"/>
          <p:cNvPicPr preferRelativeResize="0"/>
          <p:nvPr/>
        </p:nvPicPr>
        <p:blipFill>
          <a:blip r:embed="rId10">
            <a:alphaModFix/>
          </a:blip>
          <a:stretch>
            <a:fillRect/>
          </a:stretch>
        </p:blipFill>
        <p:spPr>
          <a:xfrm>
            <a:off x="4355248" y="3988588"/>
            <a:ext cx="872592" cy="498625"/>
          </a:xfrm>
          <a:prstGeom prst="rect">
            <a:avLst/>
          </a:prstGeom>
          <a:noFill/>
          <a:ln>
            <a:noFill/>
          </a:ln>
        </p:spPr>
      </p:pic>
      <p:pic>
        <p:nvPicPr>
          <p:cNvPr id="138" name="Google Shape;138;p17"/>
          <p:cNvPicPr preferRelativeResize="0"/>
          <p:nvPr/>
        </p:nvPicPr>
        <p:blipFill>
          <a:blip r:embed="rId11">
            <a:alphaModFix/>
          </a:blip>
          <a:stretch>
            <a:fillRect/>
          </a:stretch>
        </p:blipFill>
        <p:spPr>
          <a:xfrm>
            <a:off x="4368475" y="4621962"/>
            <a:ext cx="846161" cy="483525"/>
          </a:xfrm>
          <a:prstGeom prst="rect">
            <a:avLst/>
          </a:prstGeom>
          <a:noFill/>
          <a:ln>
            <a:noFill/>
          </a:ln>
        </p:spPr>
      </p:pic>
      <p:pic>
        <p:nvPicPr>
          <p:cNvPr id="139" name="Google Shape;139;p17"/>
          <p:cNvPicPr preferRelativeResize="0"/>
          <p:nvPr/>
        </p:nvPicPr>
        <p:blipFill>
          <a:blip r:embed="rId12">
            <a:alphaModFix/>
          </a:blip>
          <a:stretch>
            <a:fillRect/>
          </a:stretch>
        </p:blipFill>
        <p:spPr>
          <a:xfrm>
            <a:off x="7522425" y="1930925"/>
            <a:ext cx="872550" cy="498600"/>
          </a:xfrm>
          <a:prstGeom prst="rect">
            <a:avLst/>
          </a:prstGeom>
          <a:noFill/>
          <a:ln>
            <a:noFill/>
          </a:ln>
        </p:spPr>
      </p:pic>
      <p:sp>
        <p:nvSpPr>
          <p:cNvPr id="140" name="Google Shape;140;p17"/>
          <p:cNvSpPr txBox="1"/>
          <p:nvPr/>
        </p:nvSpPr>
        <p:spPr>
          <a:xfrm>
            <a:off x="135350" y="2657250"/>
            <a:ext cx="1667100" cy="22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Or click one of these buy buttons to spend your cash.  Clicking on a buy or sell button will bring you to the next screen, which will reflect your purchase or sell</a:t>
            </a:r>
            <a:endParaRPr/>
          </a:p>
        </p:txBody>
      </p:sp>
      <p:cxnSp>
        <p:nvCxnSpPr>
          <p:cNvPr id="141" name="Google Shape;141;p17"/>
          <p:cNvCxnSpPr/>
          <p:nvPr/>
        </p:nvCxnSpPr>
        <p:spPr>
          <a:xfrm flipH="1">
            <a:off x="1773850" y="2984925"/>
            <a:ext cx="1178700" cy="149700"/>
          </a:xfrm>
          <a:prstGeom prst="straightConnector1">
            <a:avLst/>
          </a:prstGeom>
          <a:noFill/>
          <a:ln cap="flat" cmpd="sng" w="9525">
            <a:solidFill>
              <a:schemeClr val="dk2"/>
            </a:solidFill>
            <a:prstDash val="solid"/>
            <a:round/>
            <a:headEnd len="med" w="med" type="none"/>
            <a:tailEnd len="med" w="med" type="none"/>
          </a:ln>
        </p:spPr>
      </p:cxnSp>
      <p:sp>
        <p:nvSpPr>
          <p:cNvPr id="142" name="Google Shape;142;p17"/>
          <p:cNvSpPr txBox="1"/>
          <p:nvPr/>
        </p:nvSpPr>
        <p:spPr>
          <a:xfrm>
            <a:off x="7622650" y="3576225"/>
            <a:ext cx="1253700" cy="10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Other colors the SELL buttons could be</a:t>
            </a:r>
            <a:endParaRPr/>
          </a:p>
        </p:txBody>
      </p:sp>
      <p:cxnSp>
        <p:nvCxnSpPr>
          <p:cNvPr id="143" name="Google Shape;143;p17"/>
          <p:cNvCxnSpPr>
            <a:stCxn id="135" idx="2"/>
            <a:endCxn id="142" idx="0"/>
          </p:cNvCxnSpPr>
          <p:nvPr/>
        </p:nvCxnSpPr>
        <p:spPr>
          <a:xfrm>
            <a:off x="8090348" y="3092713"/>
            <a:ext cx="159300" cy="483600"/>
          </a:xfrm>
          <a:prstGeom prst="straightConnector1">
            <a:avLst/>
          </a:prstGeom>
          <a:noFill/>
          <a:ln cap="flat" cmpd="sng" w="9525">
            <a:solidFill>
              <a:schemeClr val="dk2"/>
            </a:solidFill>
            <a:prstDash val="solid"/>
            <a:round/>
            <a:headEnd len="med" w="med" type="none"/>
            <a:tailEnd len="med" w="med" type="none"/>
          </a:ln>
        </p:spPr>
      </p:cxnSp>
      <p:pic>
        <p:nvPicPr>
          <p:cNvPr id="144" name="Google Shape;144;p17"/>
          <p:cNvPicPr preferRelativeResize="0"/>
          <p:nvPr/>
        </p:nvPicPr>
        <p:blipFill>
          <a:blip r:embed="rId13">
            <a:alphaModFix/>
          </a:blip>
          <a:stretch>
            <a:fillRect/>
          </a:stretch>
        </p:blipFill>
        <p:spPr>
          <a:xfrm>
            <a:off x="4355245" y="2728787"/>
            <a:ext cx="872595" cy="498626"/>
          </a:xfrm>
          <a:prstGeom prst="rect">
            <a:avLst/>
          </a:prstGeom>
          <a:noFill/>
          <a:ln>
            <a:noFill/>
          </a:ln>
        </p:spPr>
      </p:pic>
      <p:pic>
        <p:nvPicPr>
          <p:cNvPr id="145" name="Google Shape;145;p17" title="Chart"/>
          <p:cNvPicPr preferRelativeResize="0"/>
          <p:nvPr/>
        </p:nvPicPr>
        <p:blipFill>
          <a:blip r:embed="rId14">
            <a:alphaModFix/>
          </a:blip>
          <a:stretch>
            <a:fillRect/>
          </a:stretch>
        </p:blipFill>
        <p:spPr>
          <a:xfrm>
            <a:off x="2781663" y="1013238"/>
            <a:ext cx="2629851" cy="1626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49" name="Shape 149"/>
        <p:cNvGrpSpPr/>
        <p:nvPr/>
      </p:nvGrpSpPr>
      <p:grpSpPr>
        <a:xfrm>
          <a:off x="0" y="0"/>
          <a:ext cx="0" cy="0"/>
          <a:chOff x="0" y="0"/>
          <a:chExt cx="0" cy="0"/>
        </a:xfrm>
      </p:grpSpPr>
      <p:cxnSp>
        <p:nvCxnSpPr>
          <p:cNvPr id="150" name="Google Shape;150;p18"/>
          <p:cNvCxnSpPr/>
          <p:nvPr/>
        </p:nvCxnSpPr>
        <p:spPr>
          <a:xfrm>
            <a:off x="5446950" y="30350"/>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18"/>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pic>
        <p:nvPicPr>
          <p:cNvPr id="152" name="Google Shape;152;p18"/>
          <p:cNvPicPr preferRelativeResize="0"/>
          <p:nvPr/>
        </p:nvPicPr>
        <p:blipFill>
          <a:blip r:embed="rId3">
            <a:alphaModFix/>
          </a:blip>
          <a:stretch>
            <a:fillRect/>
          </a:stretch>
        </p:blipFill>
        <p:spPr>
          <a:xfrm>
            <a:off x="2746225" y="3147656"/>
            <a:ext cx="740425" cy="425319"/>
          </a:xfrm>
          <a:prstGeom prst="rect">
            <a:avLst/>
          </a:prstGeom>
          <a:noFill/>
          <a:ln>
            <a:noFill/>
          </a:ln>
        </p:spPr>
      </p:pic>
      <p:pic>
        <p:nvPicPr>
          <p:cNvPr id="153" name="Google Shape;153;p18"/>
          <p:cNvPicPr preferRelativeResize="0"/>
          <p:nvPr/>
        </p:nvPicPr>
        <p:blipFill>
          <a:blip r:embed="rId4">
            <a:alphaModFix/>
          </a:blip>
          <a:stretch>
            <a:fillRect/>
          </a:stretch>
        </p:blipFill>
        <p:spPr>
          <a:xfrm>
            <a:off x="3683612" y="3145878"/>
            <a:ext cx="740451" cy="422009"/>
          </a:xfrm>
          <a:prstGeom prst="rect">
            <a:avLst/>
          </a:prstGeom>
          <a:noFill/>
          <a:ln>
            <a:noFill/>
          </a:ln>
        </p:spPr>
      </p:pic>
      <p:pic>
        <p:nvPicPr>
          <p:cNvPr id="154" name="Google Shape;154;p18"/>
          <p:cNvPicPr preferRelativeResize="0"/>
          <p:nvPr/>
        </p:nvPicPr>
        <p:blipFill>
          <a:blip r:embed="rId5">
            <a:alphaModFix/>
          </a:blip>
          <a:stretch>
            <a:fillRect/>
          </a:stretch>
        </p:blipFill>
        <p:spPr>
          <a:xfrm>
            <a:off x="3741512" y="4676012"/>
            <a:ext cx="740425" cy="421472"/>
          </a:xfrm>
          <a:prstGeom prst="rect">
            <a:avLst/>
          </a:prstGeom>
          <a:noFill/>
          <a:ln>
            <a:noFill/>
          </a:ln>
        </p:spPr>
      </p:pic>
      <p:pic>
        <p:nvPicPr>
          <p:cNvPr id="155" name="Google Shape;155;p18"/>
          <p:cNvPicPr preferRelativeResize="0"/>
          <p:nvPr/>
        </p:nvPicPr>
        <p:blipFill>
          <a:blip r:embed="rId6">
            <a:alphaModFix/>
          </a:blip>
          <a:stretch>
            <a:fillRect/>
          </a:stretch>
        </p:blipFill>
        <p:spPr>
          <a:xfrm>
            <a:off x="4706450" y="4675547"/>
            <a:ext cx="740423" cy="422399"/>
          </a:xfrm>
          <a:prstGeom prst="rect">
            <a:avLst/>
          </a:prstGeom>
          <a:noFill/>
          <a:ln>
            <a:noFill/>
          </a:ln>
        </p:spPr>
      </p:pic>
      <p:pic>
        <p:nvPicPr>
          <p:cNvPr id="156" name="Google Shape;156;p18"/>
          <p:cNvPicPr preferRelativeResize="0"/>
          <p:nvPr/>
        </p:nvPicPr>
        <p:blipFill>
          <a:blip r:embed="rId7">
            <a:alphaModFix/>
          </a:blip>
          <a:stretch>
            <a:fillRect/>
          </a:stretch>
        </p:blipFill>
        <p:spPr>
          <a:xfrm>
            <a:off x="3721575" y="3909264"/>
            <a:ext cx="750025" cy="425325"/>
          </a:xfrm>
          <a:prstGeom prst="rect">
            <a:avLst/>
          </a:prstGeom>
          <a:noFill/>
          <a:ln>
            <a:noFill/>
          </a:ln>
        </p:spPr>
      </p:pic>
      <p:pic>
        <p:nvPicPr>
          <p:cNvPr id="157" name="Google Shape;157;p18"/>
          <p:cNvPicPr preferRelativeResize="0"/>
          <p:nvPr/>
        </p:nvPicPr>
        <p:blipFill>
          <a:blip r:embed="rId8">
            <a:alphaModFix/>
          </a:blip>
          <a:stretch>
            <a:fillRect/>
          </a:stretch>
        </p:blipFill>
        <p:spPr>
          <a:xfrm>
            <a:off x="2749899" y="2152268"/>
            <a:ext cx="733100" cy="419020"/>
          </a:xfrm>
          <a:prstGeom prst="rect">
            <a:avLst/>
          </a:prstGeom>
          <a:noFill/>
          <a:ln>
            <a:noFill/>
          </a:ln>
        </p:spPr>
      </p:pic>
      <p:pic>
        <p:nvPicPr>
          <p:cNvPr id="158" name="Google Shape;158;p18"/>
          <p:cNvPicPr preferRelativeResize="0"/>
          <p:nvPr/>
        </p:nvPicPr>
        <p:blipFill>
          <a:blip r:embed="rId9">
            <a:alphaModFix/>
          </a:blip>
          <a:stretch>
            <a:fillRect/>
          </a:stretch>
        </p:blipFill>
        <p:spPr>
          <a:xfrm>
            <a:off x="3678823" y="1725936"/>
            <a:ext cx="750025" cy="426339"/>
          </a:xfrm>
          <a:prstGeom prst="rect">
            <a:avLst/>
          </a:prstGeom>
          <a:noFill/>
          <a:ln>
            <a:noFill/>
          </a:ln>
        </p:spPr>
      </p:pic>
      <p:pic>
        <p:nvPicPr>
          <p:cNvPr id="159" name="Google Shape;159;p18"/>
          <p:cNvPicPr preferRelativeResize="0"/>
          <p:nvPr/>
        </p:nvPicPr>
        <p:blipFill>
          <a:blip r:embed="rId10">
            <a:alphaModFix/>
          </a:blip>
          <a:stretch>
            <a:fillRect/>
          </a:stretch>
        </p:blipFill>
        <p:spPr>
          <a:xfrm>
            <a:off x="2746223" y="3915313"/>
            <a:ext cx="733099" cy="418812"/>
          </a:xfrm>
          <a:prstGeom prst="rect">
            <a:avLst/>
          </a:prstGeom>
          <a:noFill/>
          <a:ln>
            <a:noFill/>
          </a:ln>
        </p:spPr>
      </p:pic>
      <p:pic>
        <p:nvPicPr>
          <p:cNvPr id="160" name="Google Shape;160;p18"/>
          <p:cNvPicPr preferRelativeResize="0"/>
          <p:nvPr/>
        </p:nvPicPr>
        <p:blipFill>
          <a:blip r:embed="rId11">
            <a:alphaModFix/>
          </a:blip>
          <a:stretch>
            <a:fillRect/>
          </a:stretch>
        </p:blipFill>
        <p:spPr>
          <a:xfrm>
            <a:off x="4713850" y="3915324"/>
            <a:ext cx="740425" cy="422889"/>
          </a:xfrm>
          <a:prstGeom prst="rect">
            <a:avLst/>
          </a:prstGeom>
          <a:noFill/>
          <a:ln>
            <a:noFill/>
          </a:ln>
        </p:spPr>
      </p:pic>
      <p:pic>
        <p:nvPicPr>
          <p:cNvPr id="161" name="Google Shape;161;p18"/>
          <p:cNvPicPr preferRelativeResize="0"/>
          <p:nvPr/>
        </p:nvPicPr>
        <p:blipFill>
          <a:blip r:embed="rId12">
            <a:alphaModFix/>
          </a:blip>
          <a:stretch>
            <a:fillRect/>
          </a:stretch>
        </p:blipFill>
        <p:spPr>
          <a:xfrm>
            <a:off x="4706523" y="3147062"/>
            <a:ext cx="733091" cy="419625"/>
          </a:xfrm>
          <a:prstGeom prst="rect">
            <a:avLst/>
          </a:prstGeom>
          <a:noFill/>
          <a:ln>
            <a:noFill/>
          </a:ln>
        </p:spPr>
      </p:pic>
      <p:pic>
        <p:nvPicPr>
          <p:cNvPr id="162" name="Google Shape;162;p18"/>
          <p:cNvPicPr preferRelativeResize="0"/>
          <p:nvPr/>
        </p:nvPicPr>
        <p:blipFill>
          <a:blip r:embed="rId13">
            <a:alphaModFix/>
          </a:blip>
          <a:stretch>
            <a:fillRect/>
          </a:stretch>
        </p:blipFill>
        <p:spPr>
          <a:xfrm>
            <a:off x="4706526" y="2154041"/>
            <a:ext cx="733100" cy="415509"/>
          </a:xfrm>
          <a:prstGeom prst="rect">
            <a:avLst/>
          </a:prstGeom>
          <a:noFill/>
          <a:ln>
            <a:noFill/>
          </a:ln>
        </p:spPr>
      </p:pic>
      <p:pic>
        <p:nvPicPr>
          <p:cNvPr id="163" name="Google Shape;163;p18"/>
          <p:cNvPicPr preferRelativeResize="0"/>
          <p:nvPr/>
        </p:nvPicPr>
        <p:blipFill>
          <a:blip r:embed="rId14">
            <a:alphaModFix/>
          </a:blip>
          <a:stretch>
            <a:fillRect/>
          </a:stretch>
        </p:blipFill>
        <p:spPr>
          <a:xfrm>
            <a:off x="3683628" y="2438136"/>
            <a:ext cx="740424" cy="421891"/>
          </a:xfrm>
          <a:prstGeom prst="rect">
            <a:avLst/>
          </a:prstGeom>
          <a:noFill/>
          <a:ln>
            <a:noFill/>
          </a:ln>
        </p:spPr>
      </p:pic>
      <p:sp>
        <p:nvSpPr>
          <p:cNvPr id="164" name="Google Shape;164;p18"/>
          <p:cNvSpPr txBox="1"/>
          <p:nvPr/>
        </p:nvSpPr>
        <p:spPr>
          <a:xfrm>
            <a:off x="2827988"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r>
              <a:rPr lang="en" sz="1000">
                <a:latin typeface="Pacifico"/>
                <a:ea typeface="Pacifico"/>
                <a:cs typeface="Pacifico"/>
                <a:sym typeface="Pacifico"/>
              </a:rPr>
              <a:t>%</a:t>
            </a:r>
            <a:endParaRPr sz="1000">
              <a:latin typeface="Pacifico"/>
              <a:ea typeface="Pacifico"/>
              <a:cs typeface="Pacifico"/>
              <a:sym typeface="Pacifico"/>
            </a:endParaRPr>
          </a:p>
        </p:txBody>
      </p:sp>
      <p:sp>
        <p:nvSpPr>
          <p:cNvPr id="165" name="Google Shape;165;p18"/>
          <p:cNvSpPr/>
          <p:nvPr/>
        </p:nvSpPr>
        <p:spPr>
          <a:xfrm>
            <a:off x="4713838" y="677750"/>
            <a:ext cx="323100" cy="187500"/>
          </a:xfrm>
          <a:prstGeom prst="leftRightArrow">
            <a:avLst>
              <a:gd fmla="val 50000" name="adj1"/>
              <a:gd fmla="val 42973" name="adj2"/>
            </a:avLst>
          </a:prstGeom>
          <a:gradFill>
            <a:gsLst>
              <a:gs pos="0">
                <a:srgbClr val="3177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txBox="1"/>
          <p:nvPr/>
        </p:nvSpPr>
        <p:spPr>
          <a:xfrm>
            <a:off x="3808125"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67" name="Google Shape;167;p18"/>
          <p:cNvSpPr txBox="1"/>
          <p:nvPr/>
        </p:nvSpPr>
        <p:spPr>
          <a:xfrm>
            <a:off x="4788238"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68" name="Google Shape;168;p18"/>
          <p:cNvSpPr txBox="1"/>
          <p:nvPr/>
        </p:nvSpPr>
        <p:spPr>
          <a:xfrm>
            <a:off x="2824313" y="36771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69" name="Google Shape;169;p18"/>
          <p:cNvSpPr txBox="1"/>
          <p:nvPr/>
        </p:nvSpPr>
        <p:spPr>
          <a:xfrm>
            <a:off x="3808138" y="36771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0" name="Google Shape;170;p18"/>
          <p:cNvSpPr txBox="1"/>
          <p:nvPr/>
        </p:nvSpPr>
        <p:spPr>
          <a:xfrm>
            <a:off x="4827588" y="36812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1" name="Google Shape;171;p18"/>
          <p:cNvSpPr txBox="1"/>
          <p:nvPr/>
        </p:nvSpPr>
        <p:spPr>
          <a:xfrm>
            <a:off x="2827988" y="290942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2" name="Google Shape;172;p18"/>
          <p:cNvSpPr txBox="1"/>
          <p:nvPr/>
        </p:nvSpPr>
        <p:spPr>
          <a:xfrm>
            <a:off x="3765375" y="29025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3" name="Google Shape;173;p18"/>
          <p:cNvSpPr txBox="1"/>
          <p:nvPr/>
        </p:nvSpPr>
        <p:spPr>
          <a:xfrm>
            <a:off x="4795613" y="28984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4" name="Google Shape;174;p18"/>
          <p:cNvSpPr txBox="1"/>
          <p:nvPr/>
        </p:nvSpPr>
        <p:spPr>
          <a:xfrm>
            <a:off x="3726350" y="2198663"/>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5" name="Google Shape;175;p18"/>
          <p:cNvSpPr txBox="1"/>
          <p:nvPr/>
        </p:nvSpPr>
        <p:spPr>
          <a:xfrm>
            <a:off x="2827975" y="190352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6" name="Google Shape;176;p18"/>
          <p:cNvSpPr txBox="1"/>
          <p:nvPr/>
        </p:nvSpPr>
        <p:spPr>
          <a:xfrm>
            <a:off x="4795613" y="188157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7" name="Google Shape;177;p18"/>
          <p:cNvSpPr txBox="1"/>
          <p:nvPr/>
        </p:nvSpPr>
        <p:spPr>
          <a:xfrm>
            <a:off x="3765375" y="14948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178" name="Google Shape;178;p18"/>
          <p:cNvSpPr txBox="1"/>
          <p:nvPr/>
        </p:nvSpPr>
        <p:spPr>
          <a:xfrm>
            <a:off x="2952551" y="32750"/>
            <a:ext cx="9837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Cash</a:t>
            </a:r>
            <a:endParaRPr>
              <a:latin typeface="Pacifico"/>
              <a:ea typeface="Pacifico"/>
              <a:cs typeface="Pacifico"/>
              <a:sym typeface="Pacifico"/>
            </a:endParaRPr>
          </a:p>
        </p:txBody>
      </p:sp>
      <p:sp>
        <p:nvSpPr>
          <p:cNvPr id="179" name="Google Shape;179;p18"/>
          <p:cNvSpPr txBox="1"/>
          <p:nvPr/>
        </p:nvSpPr>
        <p:spPr>
          <a:xfrm>
            <a:off x="3101050" y="264050"/>
            <a:ext cx="6867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sp>
        <p:nvSpPr>
          <p:cNvPr id="180" name="Google Shape;180;p18"/>
          <p:cNvSpPr txBox="1"/>
          <p:nvPr/>
        </p:nvSpPr>
        <p:spPr>
          <a:xfrm>
            <a:off x="4217950" y="32750"/>
            <a:ext cx="1147200" cy="2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acifico"/>
                <a:ea typeface="Pacifico"/>
                <a:cs typeface="Pacifico"/>
                <a:sym typeface="Pacifico"/>
              </a:rPr>
              <a:t>Investments</a:t>
            </a:r>
            <a:endParaRPr>
              <a:latin typeface="Pacifico"/>
              <a:ea typeface="Pacifico"/>
              <a:cs typeface="Pacifico"/>
              <a:sym typeface="Pacifico"/>
            </a:endParaRPr>
          </a:p>
        </p:txBody>
      </p:sp>
      <p:sp>
        <p:nvSpPr>
          <p:cNvPr id="181" name="Google Shape;181;p18"/>
          <p:cNvSpPr txBox="1"/>
          <p:nvPr/>
        </p:nvSpPr>
        <p:spPr>
          <a:xfrm>
            <a:off x="4385025" y="230225"/>
            <a:ext cx="7500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$100</a:t>
            </a:r>
            <a:endParaRPr>
              <a:latin typeface="Pacifico"/>
              <a:ea typeface="Pacifico"/>
              <a:cs typeface="Pacifico"/>
              <a:sym typeface="Pacifico"/>
            </a:endParaRPr>
          </a:p>
        </p:txBody>
      </p:sp>
      <p:pic>
        <p:nvPicPr>
          <p:cNvPr id="182" name="Google Shape;182;p18"/>
          <p:cNvPicPr preferRelativeResize="0"/>
          <p:nvPr/>
        </p:nvPicPr>
        <p:blipFill>
          <a:blip r:embed="rId15">
            <a:alphaModFix/>
          </a:blip>
          <a:stretch>
            <a:fillRect/>
          </a:stretch>
        </p:blipFill>
        <p:spPr>
          <a:xfrm>
            <a:off x="3066250" y="620114"/>
            <a:ext cx="1640200" cy="937260"/>
          </a:xfrm>
          <a:prstGeom prst="rect">
            <a:avLst/>
          </a:prstGeom>
          <a:noFill/>
          <a:ln>
            <a:noFill/>
          </a:ln>
        </p:spPr>
      </p:pic>
      <p:sp>
        <p:nvSpPr>
          <p:cNvPr id="183" name="Google Shape;183;p18"/>
          <p:cNvSpPr txBox="1"/>
          <p:nvPr/>
        </p:nvSpPr>
        <p:spPr>
          <a:xfrm>
            <a:off x="4733350" y="914600"/>
            <a:ext cx="686700" cy="47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Year:</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sp>
        <p:nvSpPr>
          <p:cNvPr id="184" name="Google Shape;184;p18"/>
          <p:cNvSpPr txBox="1"/>
          <p:nvPr/>
        </p:nvSpPr>
        <p:spPr>
          <a:xfrm>
            <a:off x="758375" y="181250"/>
            <a:ext cx="1745400" cy="6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Amounts changed due to purchase</a:t>
            </a:r>
            <a:endParaRPr/>
          </a:p>
        </p:txBody>
      </p:sp>
      <p:cxnSp>
        <p:nvCxnSpPr>
          <p:cNvPr id="185" name="Google Shape;185;p18"/>
          <p:cNvCxnSpPr>
            <a:stCxn id="184" idx="3"/>
          </p:cNvCxnSpPr>
          <p:nvPr/>
        </p:nvCxnSpPr>
        <p:spPr>
          <a:xfrm flipH="1" rot="10800000">
            <a:off x="2503775" y="505850"/>
            <a:ext cx="723300" cy="174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18"/>
          <p:cNvCxnSpPr/>
          <p:nvPr/>
        </p:nvCxnSpPr>
        <p:spPr>
          <a:xfrm>
            <a:off x="2500500" y="349075"/>
            <a:ext cx="2051700" cy="106800"/>
          </a:xfrm>
          <a:prstGeom prst="straightConnector1">
            <a:avLst/>
          </a:prstGeom>
          <a:noFill/>
          <a:ln cap="flat" cmpd="sng" w="9525">
            <a:solidFill>
              <a:schemeClr val="dk2"/>
            </a:solidFill>
            <a:prstDash val="solid"/>
            <a:round/>
            <a:headEnd len="med" w="med" type="none"/>
            <a:tailEnd len="med" w="med" type="none"/>
          </a:ln>
        </p:spPr>
      </p:cxnSp>
      <p:sp>
        <p:nvSpPr>
          <p:cNvPr id="187" name="Google Shape;187;p18"/>
          <p:cNvSpPr txBox="1"/>
          <p:nvPr/>
        </p:nvSpPr>
        <p:spPr>
          <a:xfrm>
            <a:off x="6760650" y="527175"/>
            <a:ext cx="1944900" cy="10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Tap to move to advance to a random year &amp; that year’s returns/losses</a:t>
            </a:r>
            <a:endParaRPr/>
          </a:p>
        </p:txBody>
      </p:sp>
      <p:cxnSp>
        <p:nvCxnSpPr>
          <p:cNvPr id="188" name="Google Shape;188;p18"/>
          <p:cNvCxnSpPr>
            <a:stCxn id="165" idx="0"/>
          </p:cNvCxnSpPr>
          <p:nvPr/>
        </p:nvCxnSpPr>
        <p:spPr>
          <a:xfrm>
            <a:off x="5036938" y="771500"/>
            <a:ext cx="1602600" cy="119100"/>
          </a:xfrm>
          <a:prstGeom prst="straightConnector1">
            <a:avLst/>
          </a:prstGeom>
          <a:noFill/>
          <a:ln cap="flat" cmpd="sng" w="9525">
            <a:solidFill>
              <a:schemeClr val="dk2"/>
            </a:solidFill>
            <a:prstDash val="solid"/>
            <a:round/>
            <a:headEnd len="med" w="med" type="none"/>
            <a:tailEnd len="med" w="med" type="none"/>
          </a:ln>
        </p:spPr>
      </p:cxnSp>
      <p:pic>
        <p:nvPicPr>
          <p:cNvPr id="189" name="Google Shape;189;p18"/>
          <p:cNvPicPr preferRelativeResize="0"/>
          <p:nvPr/>
        </p:nvPicPr>
        <p:blipFill>
          <a:blip r:embed="rId16">
            <a:alphaModFix/>
          </a:blip>
          <a:stretch>
            <a:fillRect/>
          </a:stretch>
        </p:blipFill>
        <p:spPr>
          <a:xfrm>
            <a:off x="2749875" y="4676486"/>
            <a:ext cx="733100" cy="4189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93" name="Shape 193"/>
        <p:cNvGrpSpPr/>
        <p:nvPr/>
      </p:nvGrpSpPr>
      <p:grpSpPr>
        <a:xfrm>
          <a:off x="0" y="0"/>
          <a:ext cx="0" cy="0"/>
          <a:chOff x="0" y="0"/>
          <a:chExt cx="0" cy="0"/>
        </a:xfrm>
      </p:grpSpPr>
      <p:cxnSp>
        <p:nvCxnSpPr>
          <p:cNvPr id="194" name="Google Shape;194;p19"/>
          <p:cNvCxnSpPr/>
          <p:nvPr/>
        </p:nvCxnSpPr>
        <p:spPr>
          <a:xfrm>
            <a:off x="5446875" y="15125"/>
            <a:ext cx="0" cy="50676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19"/>
          <p:cNvCxnSpPr/>
          <p:nvPr/>
        </p:nvCxnSpPr>
        <p:spPr>
          <a:xfrm>
            <a:off x="2746225" y="-15175"/>
            <a:ext cx="0" cy="5128200"/>
          </a:xfrm>
          <a:prstGeom prst="straightConnector1">
            <a:avLst/>
          </a:prstGeom>
          <a:noFill/>
          <a:ln cap="flat" cmpd="sng" w="9525">
            <a:solidFill>
              <a:schemeClr val="dk2"/>
            </a:solidFill>
            <a:prstDash val="solid"/>
            <a:round/>
            <a:headEnd len="med" w="med" type="none"/>
            <a:tailEnd len="med" w="med" type="none"/>
          </a:ln>
        </p:spPr>
      </p:cxnSp>
      <p:pic>
        <p:nvPicPr>
          <p:cNvPr id="196" name="Google Shape;196;p19"/>
          <p:cNvPicPr preferRelativeResize="0"/>
          <p:nvPr/>
        </p:nvPicPr>
        <p:blipFill>
          <a:blip r:embed="rId3">
            <a:alphaModFix/>
          </a:blip>
          <a:stretch>
            <a:fillRect/>
          </a:stretch>
        </p:blipFill>
        <p:spPr>
          <a:xfrm>
            <a:off x="2746225" y="3147656"/>
            <a:ext cx="740425" cy="425319"/>
          </a:xfrm>
          <a:prstGeom prst="rect">
            <a:avLst/>
          </a:prstGeom>
          <a:noFill/>
          <a:ln>
            <a:noFill/>
          </a:ln>
        </p:spPr>
      </p:pic>
      <p:pic>
        <p:nvPicPr>
          <p:cNvPr id="197" name="Google Shape;197;p19"/>
          <p:cNvPicPr preferRelativeResize="0"/>
          <p:nvPr/>
        </p:nvPicPr>
        <p:blipFill>
          <a:blip r:embed="rId4">
            <a:alphaModFix/>
          </a:blip>
          <a:stretch>
            <a:fillRect/>
          </a:stretch>
        </p:blipFill>
        <p:spPr>
          <a:xfrm>
            <a:off x="3683612" y="3145878"/>
            <a:ext cx="740451" cy="422009"/>
          </a:xfrm>
          <a:prstGeom prst="rect">
            <a:avLst/>
          </a:prstGeom>
          <a:noFill/>
          <a:ln>
            <a:noFill/>
          </a:ln>
        </p:spPr>
      </p:pic>
      <p:pic>
        <p:nvPicPr>
          <p:cNvPr id="198" name="Google Shape;198;p19"/>
          <p:cNvPicPr preferRelativeResize="0"/>
          <p:nvPr/>
        </p:nvPicPr>
        <p:blipFill>
          <a:blip r:embed="rId5">
            <a:alphaModFix/>
          </a:blip>
          <a:stretch>
            <a:fillRect/>
          </a:stretch>
        </p:blipFill>
        <p:spPr>
          <a:xfrm>
            <a:off x="3741512" y="4676012"/>
            <a:ext cx="740425" cy="421472"/>
          </a:xfrm>
          <a:prstGeom prst="rect">
            <a:avLst/>
          </a:prstGeom>
          <a:noFill/>
          <a:ln>
            <a:noFill/>
          </a:ln>
        </p:spPr>
      </p:pic>
      <p:pic>
        <p:nvPicPr>
          <p:cNvPr id="199" name="Google Shape;199;p19"/>
          <p:cNvPicPr preferRelativeResize="0"/>
          <p:nvPr/>
        </p:nvPicPr>
        <p:blipFill>
          <a:blip r:embed="rId6">
            <a:alphaModFix/>
          </a:blip>
          <a:stretch>
            <a:fillRect/>
          </a:stretch>
        </p:blipFill>
        <p:spPr>
          <a:xfrm>
            <a:off x="4706450" y="4675547"/>
            <a:ext cx="740423" cy="422399"/>
          </a:xfrm>
          <a:prstGeom prst="rect">
            <a:avLst/>
          </a:prstGeom>
          <a:noFill/>
          <a:ln>
            <a:noFill/>
          </a:ln>
        </p:spPr>
      </p:pic>
      <p:pic>
        <p:nvPicPr>
          <p:cNvPr id="200" name="Google Shape;200;p19"/>
          <p:cNvPicPr preferRelativeResize="0"/>
          <p:nvPr/>
        </p:nvPicPr>
        <p:blipFill>
          <a:blip r:embed="rId7">
            <a:alphaModFix/>
          </a:blip>
          <a:stretch>
            <a:fillRect/>
          </a:stretch>
        </p:blipFill>
        <p:spPr>
          <a:xfrm>
            <a:off x="3721575" y="3909264"/>
            <a:ext cx="750025" cy="425325"/>
          </a:xfrm>
          <a:prstGeom prst="rect">
            <a:avLst/>
          </a:prstGeom>
          <a:noFill/>
          <a:ln>
            <a:noFill/>
          </a:ln>
        </p:spPr>
      </p:pic>
      <p:pic>
        <p:nvPicPr>
          <p:cNvPr id="201" name="Google Shape;201;p19"/>
          <p:cNvPicPr preferRelativeResize="0"/>
          <p:nvPr/>
        </p:nvPicPr>
        <p:blipFill>
          <a:blip r:embed="rId8">
            <a:alphaModFix/>
          </a:blip>
          <a:stretch>
            <a:fillRect/>
          </a:stretch>
        </p:blipFill>
        <p:spPr>
          <a:xfrm>
            <a:off x="2749899" y="2152268"/>
            <a:ext cx="733100" cy="419020"/>
          </a:xfrm>
          <a:prstGeom prst="rect">
            <a:avLst/>
          </a:prstGeom>
          <a:noFill/>
          <a:ln>
            <a:noFill/>
          </a:ln>
        </p:spPr>
      </p:pic>
      <p:pic>
        <p:nvPicPr>
          <p:cNvPr id="202" name="Google Shape;202;p19"/>
          <p:cNvPicPr preferRelativeResize="0"/>
          <p:nvPr/>
        </p:nvPicPr>
        <p:blipFill>
          <a:blip r:embed="rId9">
            <a:alphaModFix/>
          </a:blip>
          <a:stretch>
            <a:fillRect/>
          </a:stretch>
        </p:blipFill>
        <p:spPr>
          <a:xfrm>
            <a:off x="3678823" y="1725936"/>
            <a:ext cx="750025" cy="426339"/>
          </a:xfrm>
          <a:prstGeom prst="rect">
            <a:avLst/>
          </a:prstGeom>
          <a:noFill/>
          <a:ln>
            <a:noFill/>
          </a:ln>
        </p:spPr>
      </p:pic>
      <p:pic>
        <p:nvPicPr>
          <p:cNvPr id="203" name="Google Shape;203;p19"/>
          <p:cNvPicPr preferRelativeResize="0"/>
          <p:nvPr/>
        </p:nvPicPr>
        <p:blipFill>
          <a:blip r:embed="rId10">
            <a:alphaModFix/>
          </a:blip>
          <a:stretch>
            <a:fillRect/>
          </a:stretch>
        </p:blipFill>
        <p:spPr>
          <a:xfrm>
            <a:off x="2746223" y="3915313"/>
            <a:ext cx="733099" cy="418812"/>
          </a:xfrm>
          <a:prstGeom prst="rect">
            <a:avLst/>
          </a:prstGeom>
          <a:noFill/>
          <a:ln>
            <a:noFill/>
          </a:ln>
        </p:spPr>
      </p:pic>
      <p:pic>
        <p:nvPicPr>
          <p:cNvPr id="204" name="Google Shape;204;p19"/>
          <p:cNvPicPr preferRelativeResize="0"/>
          <p:nvPr/>
        </p:nvPicPr>
        <p:blipFill>
          <a:blip r:embed="rId11">
            <a:alphaModFix/>
          </a:blip>
          <a:stretch>
            <a:fillRect/>
          </a:stretch>
        </p:blipFill>
        <p:spPr>
          <a:xfrm>
            <a:off x="4713850" y="3915324"/>
            <a:ext cx="740425" cy="422889"/>
          </a:xfrm>
          <a:prstGeom prst="rect">
            <a:avLst/>
          </a:prstGeom>
          <a:noFill/>
          <a:ln>
            <a:noFill/>
          </a:ln>
        </p:spPr>
      </p:pic>
      <p:pic>
        <p:nvPicPr>
          <p:cNvPr id="205" name="Google Shape;205;p19"/>
          <p:cNvPicPr preferRelativeResize="0"/>
          <p:nvPr/>
        </p:nvPicPr>
        <p:blipFill>
          <a:blip r:embed="rId12">
            <a:alphaModFix/>
          </a:blip>
          <a:stretch>
            <a:fillRect/>
          </a:stretch>
        </p:blipFill>
        <p:spPr>
          <a:xfrm>
            <a:off x="4706523" y="3147062"/>
            <a:ext cx="733091" cy="419625"/>
          </a:xfrm>
          <a:prstGeom prst="rect">
            <a:avLst/>
          </a:prstGeom>
          <a:noFill/>
          <a:ln>
            <a:noFill/>
          </a:ln>
        </p:spPr>
      </p:pic>
      <p:pic>
        <p:nvPicPr>
          <p:cNvPr id="206" name="Google Shape;206;p19"/>
          <p:cNvPicPr preferRelativeResize="0"/>
          <p:nvPr/>
        </p:nvPicPr>
        <p:blipFill>
          <a:blip r:embed="rId13">
            <a:alphaModFix/>
          </a:blip>
          <a:stretch>
            <a:fillRect/>
          </a:stretch>
        </p:blipFill>
        <p:spPr>
          <a:xfrm>
            <a:off x="4706526" y="2154041"/>
            <a:ext cx="733100" cy="415509"/>
          </a:xfrm>
          <a:prstGeom prst="rect">
            <a:avLst/>
          </a:prstGeom>
          <a:noFill/>
          <a:ln>
            <a:noFill/>
          </a:ln>
        </p:spPr>
      </p:pic>
      <p:pic>
        <p:nvPicPr>
          <p:cNvPr id="207" name="Google Shape;207;p19"/>
          <p:cNvPicPr preferRelativeResize="0"/>
          <p:nvPr/>
        </p:nvPicPr>
        <p:blipFill>
          <a:blip r:embed="rId14">
            <a:alphaModFix/>
          </a:blip>
          <a:stretch>
            <a:fillRect/>
          </a:stretch>
        </p:blipFill>
        <p:spPr>
          <a:xfrm>
            <a:off x="3683628" y="2438136"/>
            <a:ext cx="740424" cy="421891"/>
          </a:xfrm>
          <a:prstGeom prst="rect">
            <a:avLst/>
          </a:prstGeom>
          <a:noFill/>
          <a:ln>
            <a:noFill/>
          </a:ln>
        </p:spPr>
      </p:pic>
      <p:sp>
        <p:nvSpPr>
          <p:cNvPr id="208" name="Google Shape;208;p19"/>
          <p:cNvSpPr txBox="1"/>
          <p:nvPr/>
        </p:nvSpPr>
        <p:spPr>
          <a:xfrm>
            <a:off x="2718200" y="4438250"/>
            <a:ext cx="7500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0000"/>
                </a:solidFill>
                <a:latin typeface="Pacifico"/>
                <a:ea typeface="Pacifico"/>
                <a:cs typeface="Pacifico"/>
                <a:sym typeface="Pacifico"/>
              </a:rPr>
              <a:t>-9.06</a:t>
            </a:r>
            <a:r>
              <a:rPr lang="en" sz="1000">
                <a:solidFill>
                  <a:srgbClr val="FF0000"/>
                </a:solidFill>
                <a:latin typeface="Pacifico"/>
                <a:ea typeface="Pacifico"/>
                <a:cs typeface="Pacifico"/>
                <a:sym typeface="Pacifico"/>
              </a:rPr>
              <a:t>%</a:t>
            </a:r>
            <a:endParaRPr sz="1000">
              <a:solidFill>
                <a:srgbClr val="FF0000"/>
              </a:solidFill>
              <a:latin typeface="Pacifico"/>
              <a:ea typeface="Pacifico"/>
              <a:cs typeface="Pacifico"/>
              <a:sym typeface="Pacifico"/>
            </a:endParaRPr>
          </a:p>
        </p:txBody>
      </p:sp>
      <p:sp>
        <p:nvSpPr>
          <p:cNvPr id="209" name="Google Shape;209;p19"/>
          <p:cNvSpPr/>
          <p:nvPr/>
        </p:nvSpPr>
        <p:spPr>
          <a:xfrm>
            <a:off x="4713838" y="677750"/>
            <a:ext cx="323100" cy="187500"/>
          </a:xfrm>
          <a:prstGeom prst="leftRightArrow">
            <a:avLst>
              <a:gd fmla="val 50000" name="adj1"/>
              <a:gd fmla="val 42973" name="adj2"/>
            </a:avLst>
          </a:prstGeom>
          <a:gradFill>
            <a:gsLst>
              <a:gs pos="0">
                <a:srgbClr val="3177EE"/>
              </a:gs>
              <a:gs pos="100000">
                <a:srgbClr val="113D8A"/>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txBox="1"/>
          <p:nvPr/>
        </p:nvSpPr>
        <p:spPr>
          <a:xfrm>
            <a:off x="3808125" y="443825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acifico"/>
                <a:ea typeface="Pacifico"/>
                <a:cs typeface="Pacifico"/>
                <a:sym typeface="Pacifico"/>
              </a:rPr>
              <a:t>4.93</a:t>
            </a:r>
            <a:r>
              <a:rPr lang="en" sz="1000">
                <a:latin typeface="Pacifico"/>
                <a:ea typeface="Pacifico"/>
                <a:cs typeface="Pacifico"/>
                <a:sym typeface="Pacifico"/>
              </a:rPr>
              <a:t>%</a:t>
            </a:r>
            <a:endParaRPr sz="1000">
              <a:latin typeface="Pacifico"/>
              <a:ea typeface="Pacifico"/>
              <a:cs typeface="Pacifico"/>
              <a:sym typeface="Pacifico"/>
            </a:endParaRPr>
          </a:p>
        </p:txBody>
      </p:sp>
      <p:sp>
        <p:nvSpPr>
          <p:cNvPr id="211" name="Google Shape;211;p19"/>
          <p:cNvSpPr txBox="1"/>
          <p:nvPr/>
        </p:nvSpPr>
        <p:spPr>
          <a:xfrm>
            <a:off x="4713850" y="4438250"/>
            <a:ext cx="7500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0000"/>
                </a:solidFill>
              </a:rPr>
              <a:t>-</a:t>
            </a:r>
            <a:r>
              <a:rPr lang="en" sz="1000">
                <a:solidFill>
                  <a:srgbClr val="FF0000"/>
                </a:solidFill>
                <a:latin typeface="Pacifico"/>
                <a:ea typeface="Pacifico"/>
                <a:cs typeface="Pacifico"/>
                <a:sym typeface="Pacifico"/>
              </a:rPr>
              <a:t>14.91</a:t>
            </a:r>
            <a:r>
              <a:rPr lang="en" sz="1000">
                <a:solidFill>
                  <a:srgbClr val="FF0000"/>
                </a:solidFill>
                <a:latin typeface="Pacifico"/>
                <a:ea typeface="Pacifico"/>
                <a:cs typeface="Pacifico"/>
                <a:sym typeface="Pacifico"/>
              </a:rPr>
              <a:t>%</a:t>
            </a:r>
            <a:endParaRPr sz="1000">
              <a:solidFill>
                <a:srgbClr val="FF0000"/>
              </a:solidFill>
              <a:latin typeface="Pacifico"/>
              <a:ea typeface="Pacifico"/>
              <a:cs typeface="Pacifico"/>
              <a:sym typeface="Pacifico"/>
            </a:endParaRPr>
          </a:p>
        </p:txBody>
      </p:sp>
      <p:sp>
        <p:nvSpPr>
          <p:cNvPr id="212" name="Google Shape;212;p19"/>
          <p:cNvSpPr txBox="1"/>
          <p:nvPr/>
        </p:nvSpPr>
        <p:spPr>
          <a:xfrm>
            <a:off x="2749900" y="3677100"/>
            <a:ext cx="7404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-26.96%</a:t>
            </a:r>
            <a:endParaRPr sz="1000">
              <a:latin typeface="Pacifico"/>
              <a:ea typeface="Pacifico"/>
              <a:cs typeface="Pacifico"/>
              <a:sym typeface="Pacifico"/>
            </a:endParaRPr>
          </a:p>
        </p:txBody>
      </p:sp>
      <p:sp>
        <p:nvSpPr>
          <p:cNvPr id="213" name="Google Shape;213;p19"/>
          <p:cNvSpPr txBox="1"/>
          <p:nvPr/>
        </p:nvSpPr>
        <p:spPr>
          <a:xfrm>
            <a:off x="3741500" y="3677100"/>
            <a:ext cx="7332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-62.84%</a:t>
            </a:r>
            <a:endParaRPr sz="1000">
              <a:latin typeface="Pacifico"/>
              <a:ea typeface="Pacifico"/>
              <a:cs typeface="Pacifico"/>
              <a:sym typeface="Pacifico"/>
            </a:endParaRPr>
          </a:p>
        </p:txBody>
      </p:sp>
      <p:sp>
        <p:nvSpPr>
          <p:cNvPr id="214" name="Google Shape;214;p19"/>
          <p:cNvSpPr txBox="1"/>
          <p:nvPr/>
        </p:nvSpPr>
        <p:spPr>
          <a:xfrm>
            <a:off x="4733350" y="3681200"/>
            <a:ext cx="7332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-20.05%</a:t>
            </a:r>
            <a:endParaRPr sz="1000">
              <a:latin typeface="Pacifico"/>
              <a:ea typeface="Pacifico"/>
              <a:cs typeface="Pacifico"/>
              <a:sym typeface="Pacifico"/>
            </a:endParaRPr>
          </a:p>
        </p:txBody>
      </p:sp>
      <p:sp>
        <p:nvSpPr>
          <p:cNvPr id="215" name="Google Shape;215;p19"/>
          <p:cNvSpPr txBox="1"/>
          <p:nvPr/>
        </p:nvSpPr>
        <p:spPr>
          <a:xfrm>
            <a:off x="2828002" y="2909425"/>
            <a:ext cx="6867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-71.05%</a:t>
            </a:r>
            <a:endParaRPr sz="1000">
              <a:latin typeface="Pacifico"/>
              <a:ea typeface="Pacifico"/>
              <a:cs typeface="Pacifico"/>
              <a:sym typeface="Pacifico"/>
            </a:endParaRPr>
          </a:p>
        </p:txBody>
      </p:sp>
      <p:sp>
        <p:nvSpPr>
          <p:cNvPr id="216" name="Google Shape;216;p19"/>
          <p:cNvSpPr txBox="1"/>
          <p:nvPr/>
        </p:nvSpPr>
        <p:spPr>
          <a:xfrm>
            <a:off x="3652050" y="2902550"/>
            <a:ext cx="7332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-79.56%</a:t>
            </a:r>
            <a:endParaRPr sz="1000">
              <a:latin typeface="Pacifico"/>
              <a:ea typeface="Pacifico"/>
              <a:cs typeface="Pacifico"/>
              <a:sym typeface="Pacifico"/>
            </a:endParaRPr>
          </a:p>
        </p:txBody>
      </p:sp>
      <p:sp>
        <p:nvSpPr>
          <p:cNvPr id="217" name="Google Shape;217;p19"/>
          <p:cNvSpPr txBox="1"/>
          <p:nvPr/>
        </p:nvSpPr>
        <p:spPr>
          <a:xfrm>
            <a:off x="4733350" y="2898450"/>
            <a:ext cx="7332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0000"/>
                </a:solidFill>
                <a:latin typeface="Pacifico"/>
                <a:ea typeface="Pacifico"/>
                <a:cs typeface="Pacifico"/>
                <a:sym typeface="Pacifico"/>
              </a:rPr>
              <a:t>-62.84%</a:t>
            </a:r>
            <a:endParaRPr sz="1000">
              <a:latin typeface="Pacifico"/>
              <a:ea typeface="Pacifico"/>
              <a:cs typeface="Pacifico"/>
              <a:sym typeface="Pacifico"/>
            </a:endParaRPr>
          </a:p>
        </p:txBody>
      </p:sp>
      <p:sp>
        <p:nvSpPr>
          <p:cNvPr id="218" name="Google Shape;218;p19"/>
          <p:cNvSpPr txBox="1"/>
          <p:nvPr/>
        </p:nvSpPr>
        <p:spPr>
          <a:xfrm>
            <a:off x="3726350" y="2198663"/>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219" name="Google Shape;219;p19"/>
          <p:cNvSpPr txBox="1"/>
          <p:nvPr/>
        </p:nvSpPr>
        <p:spPr>
          <a:xfrm>
            <a:off x="2827975" y="1903525"/>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220" name="Google Shape;220;p19"/>
          <p:cNvSpPr txBox="1"/>
          <p:nvPr/>
        </p:nvSpPr>
        <p:spPr>
          <a:xfrm>
            <a:off x="3765375" y="1494800"/>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sp>
        <p:nvSpPr>
          <p:cNvPr id="221" name="Google Shape;221;p19"/>
          <p:cNvSpPr txBox="1"/>
          <p:nvPr/>
        </p:nvSpPr>
        <p:spPr>
          <a:xfrm>
            <a:off x="2952551" y="32750"/>
            <a:ext cx="983700" cy="2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Cash</a:t>
            </a:r>
            <a:endParaRPr>
              <a:latin typeface="Pacifico"/>
              <a:ea typeface="Pacifico"/>
              <a:cs typeface="Pacifico"/>
              <a:sym typeface="Pacifico"/>
            </a:endParaRPr>
          </a:p>
        </p:txBody>
      </p:sp>
      <p:sp>
        <p:nvSpPr>
          <p:cNvPr id="222" name="Google Shape;222;p19"/>
          <p:cNvSpPr txBox="1"/>
          <p:nvPr/>
        </p:nvSpPr>
        <p:spPr>
          <a:xfrm>
            <a:off x="3101050" y="264050"/>
            <a:ext cx="6867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$0</a:t>
            </a:r>
            <a:endParaRPr>
              <a:latin typeface="Pacifico"/>
              <a:ea typeface="Pacifico"/>
              <a:cs typeface="Pacifico"/>
              <a:sym typeface="Pacifico"/>
            </a:endParaRPr>
          </a:p>
        </p:txBody>
      </p:sp>
      <p:sp>
        <p:nvSpPr>
          <p:cNvPr id="223" name="Google Shape;223;p19"/>
          <p:cNvSpPr txBox="1"/>
          <p:nvPr/>
        </p:nvSpPr>
        <p:spPr>
          <a:xfrm>
            <a:off x="4217950" y="32750"/>
            <a:ext cx="1147200" cy="2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acifico"/>
                <a:ea typeface="Pacifico"/>
                <a:cs typeface="Pacifico"/>
                <a:sym typeface="Pacifico"/>
              </a:rPr>
              <a:t>Investments</a:t>
            </a:r>
            <a:endParaRPr>
              <a:latin typeface="Pacifico"/>
              <a:ea typeface="Pacifico"/>
              <a:cs typeface="Pacifico"/>
              <a:sym typeface="Pacifico"/>
            </a:endParaRPr>
          </a:p>
        </p:txBody>
      </p:sp>
      <p:sp>
        <p:nvSpPr>
          <p:cNvPr id="224" name="Google Shape;224;p19"/>
          <p:cNvSpPr txBox="1"/>
          <p:nvPr/>
        </p:nvSpPr>
        <p:spPr>
          <a:xfrm>
            <a:off x="4385025" y="230225"/>
            <a:ext cx="750000" cy="18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$28.95</a:t>
            </a:r>
            <a:endParaRPr>
              <a:latin typeface="Pacifico"/>
              <a:ea typeface="Pacifico"/>
              <a:cs typeface="Pacifico"/>
              <a:sym typeface="Pacifico"/>
            </a:endParaRPr>
          </a:p>
        </p:txBody>
      </p:sp>
      <p:sp>
        <p:nvSpPr>
          <p:cNvPr id="225" name="Google Shape;225;p19"/>
          <p:cNvSpPr txBox="1"/>
          <p:nvPr/>
        </p:nvSpPr>
        <p:spPr>
          <a:xfrm>
            <a:off x="4733350" y="914600"/>
            <a:ext cx="686700" cy="47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Year:</a:t>
            </a:r>
            <a:endParaRPr>
              <a:latin typeface="Pacifico"/>
              <a:ea typeface="Pacifico"/>
              <a:cs typeface="Pacifico"/>
              <a:sym typeface="Pacifico"/>
            </a:endParaRPr>
          </a:p>
          <a:p>
            <a:pPr indent="0" lvl="0" marL="0" rtl="0" algn="ctr">
              <a:spcBef>
                <a:spcPts val="0"/>
              </a:spcBef>
              <a:spcAft>
                <a:spcPts val="0"/>
              </a:spcAft>
              <a:buNone/>
            </a:pPr>
            <a:r>
              <a:rPr lang="en">
                <a:latin typeface="Pacifico"/>
                <a:ea typeface="Pacifico"/>
                <a:cs typeface="Pacifico"/>
                <a:sym typeface="Pacifico"/>
              </a:rPr>
              <a:t>1</a:t>
            </a:r>
            <a:endParaRPr>
              <a:latin typeface="Pacifico"/>
              <a:ea typeface="Pacifico"/>
              <a:cs typeface="Pacifico"/>
              <a:sym typeface="Pacifico"/>
            </a:endParaRPr>
          </a:p>
        </p:txBody>
      </p:sp>
      <p:sp>
        <p:nvSpPr>
          <p:cNvPr id="226" name="Google Shape;226;p19"/>
          <p:cNvSpPr txBox="1"/>
          <p:nvPr/>
        </p:nvSpPr>
        <p:spPr>
          <a:xfrm>
            <a:off x="6885600" y="865250"/>
            <a:ext cx="1745400" cy="8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Years invested changed due advancing</a:t>
            </a:r>
            <a:endParaRPr/>
          </a:p>
        </p:txBody>
      </p:sp>
      <p:cxnSp>
        <p:nvCxnSpPr>
          <p:cNvPr id="227" name="Google Shape;227;p19"/>
          <p:cNvCxnSpPr>
            <a:stCxn id="225" idx="3"/>
            <a:endCxn id="226" idx="1"/>
          </p:cNvCxnSpPr>
          <p:nvPr/>
        </p:nvCxnSpPr>
        <p:spPr>
          <a:xfrm>
            <a:off x="5420050" y="1149650"/>
            <a:ext cx="1465500" cy="130800"/>
          </a:xfrm>
          <a:prstGeom prst="straightConnector1">
            <a:avLst/>
          </a:prstGeom>
          <a:noFill/>
          <a:ln cap="flat" cmpd="sng" w="9525">
            <a:solidFill>
              <a:schemeClr val="dk2"/>
            </a:solidFill>
            <a:prstDash val="solid"/>
            <a:round/>
            <a:headEnd len="med" w="med" type="none"/>
            <a:tailEnd len="med" w="med" type="none"/>
          </a:ln>
        </p:spPr>
      </p:cxnSp>
      <p:pic>
        <p:nvPicPr>
          <p:cNvPr id="228" name="Google Shape;228;p19"/>
          <p:cNvPicPr preferRelativeResize="0"/>
          <p:nvPr/>
        </p:nvPicPr>
        <p:blipFill>
          <a:blip r:embed="rId15">
            <a:alphaModFix/>
          </a:blip>
          <a:stretch>
            <a:fillRect/>
          </a:stretch>
        </p:blipFill>
        <p:spPr>
          <a:xfrm>
            <a:off x="3066250" y="620100"/>
            <a:ext cx="1640200" cy="937263"/>
          </a:xfrm>
          <a:prstGeom prst="rect">
            <a:avLst/>
          </a:prstGeom>
          <a:noFill/>
          <a:ln>
            <a:noFill/>
          </a:ln>
        </p:spPr>
      </p:pic>
      <p:sp>
        <p:nvSpPr>
          <p:cNvPr id="229" name="Google Shape;229;p19"/>
          <p:cNvSpPr txBox="1"/>
          <p:nvPr/>
        </p:nvSpPr>
        <p:spPr>
          <a:xfrm>
            <a:off x="178100" y="235100"/>
            <a:ext cx="1674000" cy="44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Date &amp; news changed, but since the game randomly picks years, it could be the same year.  If it were the same year, then the player would still experience the gains or loss % of that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Could have like 20 different news items for each year, so 400 different randomly picked news headlines possible</a:t>
            </a:r>
            <a:endParaRPr/>
          </a:p>
        </p:txBody>
      </p:sp>
      <p:cxnSp>
        <p:nvCxnSpPr>
          <p:cNvPr id="230" name="Google Shape;230;p19"/>
          <p:cNvCxnSpPr/>
          <p:nvPr/>
        </p:nvCxnSpPr>
        <p:spPr>
          <a:xfrm rot="10800000">
            <a:off x="1574400" y="698275"/>
            <a:ext cx="2023200" cy="99600"/>
          </a:xfrm>
          <a:prstGeom prst="straightConnector1">
            <a:avLst/>
          </a:prstGeom>
          <a:noFill/>
          <a:ln cap="flat" cmpd="sng" w="9525">
            <a:solidFill>
              <a:schemeClr val="dk2"/>
            </a:solidFill>
            <a:prstDash val="solid"/>
            <a:round/>
            <a:headEnd len="med" w="med" type="none"/>
            <a:tailEnd len="med" w="med" type="none"/>
          </a:ln>
        </p:spPr>
      </p:cxnSp>
      <p:sp>
        <p:nvSpPr>
          <p:cNvPr id="231" name="Google Shape;231;p19"/>
          <p:cNvSpPr txBox="1"/>
          <p:nvPr/>
        </p:nvSpPr>
        <p:spPr>
          <a:xfrm>
            <a:off x="6739275" y="1987575"/>
            <a:ext cx="2108700" cy="27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top 4 do not change as they are grayed out as they need to be bought with real money or earned in game.  Could be grayed out.  Also these stocks do not have data for early years, like this, so they would be 0% when 2000 appears </a:t>
            </a:r>
            <a:r>
              <a:rPr lang="en"/>
              <a:t>regardless</a:t>
            </a:r>
            <a:endParaRPr/>
          </a:p>
        </p:txBody>
      </p:sp>
      <p:cxnSp>
        <p:nvCxnSpPr>
          <p:cNvPr id="232" name="Google Shape;232;p19"/>
          <p:cNvCxnSpPr/>
          <p:nvPr/>
        </p:nvCxnSpPr>
        <p:spPr>
          <a:xfrm>
            <a:off x="5439625" y="2361795"/>
            <a:ext cx="1320900" cy="195600"/>
          </a:xfrm>
          <a:prstGeom prst="straightConnector1">
            <a:avLst/>
          </a:prstGeom>
          <a:noFill/>
          <a:ln cap="flat" cmpd="sng" w="9525">
            <a:solidFill>
              <a:schemeClr val="dk2"/>
            </a:solidFill>
            <a:prstDash val="solid"/>
            <a:round/>
            <a:headEnd len="med" w="med" type="none"/>
            <a:tailEnd len="med" w="med" type="none"/>
          </a:ln>
        </p:spPr>
      </p:cxnSp>
      <p:cxnSp>
        <p:nvCxnSpPr>
          <p:cNvPr id="233" name="Google Shape;233;p19"/>
          <p:cNvCxnSpPr>
            <a:stCxn id="202" idx="3"/>
          </p:cNvCxnSpPr>
          <p:nvPr/>
        </p:nvCxnSpPr>
        <p:spPr>
          <a:xfrm>
            <a:off x="4428848" y="1939105"/>
            <a:ext cx="2224800" cy="5328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19"/>
          <p:cNvCxnSpPr/>
          <p:nvPr/>
        </p:nvCxnSpPr>
        <p:spPr>
          <a:xfrm flipH="1" rot="10800000">
            <a:off x="4424052" y="2586082"/>
            <a:ext cx="2265300" cy="630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19"/>
          <p:cNvCxnSpPr/>
          <p:nvPr/>
        </p:nvCxnSpPr>
        <p:spPr>
          <a:xfrm>
            <a:off x="3512125" y="2194175"/>
            <a:ext cx="3248400" cy="342000"/>
          </a:xfrm>
          <a:prstGeom prst="straightConnector1">
            <a:avLst/>
          </a:prstGeom>
          <a:noFill/>
          <a:ln cap="flat" cmpd="sng" w="9525">
            <a:solidFill>
              <a:schemeClr val="dk2"/>
            </a:solidFill>
            <a:prstDash val="solid"/>
            <a:round/>
            <a:headEnd len="med" w="med" type="none"/>
            <a:tailEnd len="med" w="med" type="none"/>
          </a:ln>
        </p:spPr>
      </p:cxnSp>
      <p:sp>
        <p:nvSpPr>
          <p:cNvPr id="236" name="Google Shape;236;p19"/>
          <p:cNvSpPr txBox="1"/>
          <p:nvPr/>
        </p:nvSpPr>
        <p:spPr>
          <a:xfrm>
            <a:off x="4783625" y="1918338"/>
            <a:ext cx="576900" cy="13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Pacifico"/>
                <a:ea typeface="Pacifico"/>
                <a:cs typeface="Pacifico"/>
                <a:sym typeface="Pacifico"/>
              </a:rPr>
              <a:t>0%</a:t>
            </a:r>
            <a:endParaRPr sz="1000">
              <a:latin typeface="Pacifico"/>
              <a:ea typeface="Pacifico"/>
              <a:cs typeface="Pacifico"/>
              <a:sym typeface="Pacifico"/>
            </a:endParaRPr>
          </a:p>
        </p:txBody>
      </p:sp>
      <p:pic>
        <p:nvPicPr>
          <p:cNvPr id="237" name="Google Shape;237;p19"/>
          <p:cNvPicPr preferRelativeResize="0"/>
          <p:nvPr/>
        </p:nvPicPr>
        <p:blipFill>
          <a:blip r:embed="rId16">
            <a:alphaModFix/>
          </a:blip>
          <a:stretch>
            <a:fillRect/>
          </a:stretch>
        </p:blipFill>
        <p:spPr>
          <a:xfrm>
            <a:off x="2749875" y="4676486"/>
            <a:ext cx="733100" cy="4189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nvSpPr>
        <p:spPr>
          <a:xfrm>
            <a:off x="370950" y="185475"/>
            <a:ext cx="7604700" cy="43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Brainstorming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5 Lessons</a:t>
            </a:r>
            <a:endParaRPr/>
          </a:p>
          <a:p>
            <a:pPr indent="0" lvl="0" marL="0" rtl="0" algn="l">
              <a:spcBef>
                <a:spcPts val="0"/>
              </a:spcBef>
              <a:spcAft>
                <a:spcPts val="0"/>
              </a:spcAft>
              <a:buNone/>
            </a:pPr>
            <a:r>
              <a:rPr lang="en"/>
              <a:t>1. </a:t>
            </a:r>
            <a:r>
              <a:rPr lang="en">
                <a:solidFill>
                  <a:schemeClr val="dk1"/>
                </a:solidFill>
              </a:rPr>
              <a:t>Don’t invest money you cannot afford to lose </a:t>
            </a:r>
            <a:endParaRPr/>
          </a:p>
          <a:p>
            <a:pPr indent="0" lvl="0" marL="0" rtl="0" algn="l">
              <a:spcBef>
                <a:spcPts val="0"/>
              </a:spcBef>
              <a:spcAft>
                <a:spcPts val="0"/>
              </a:spcAft>
              <a:buNone/>
            </a:pPr>
            <a:r>
              <a:rPr lang="en"/>
              <a:t>2. </a:t>
            </a:r>
            <a:r>
              <a:rPr lang="en">
                <a:solidFill>
                  <a:schemeClr val="dk1"/>
                </a:solidFill>
              </a:rPr>
              <a:t>Don’t invest in things you don’t understand, but also don’t wait for the perfect choice, just make a quality choice with investing</a:t>
            </a:r>
            <a:endParaRPr/>
          </a:p>
          <a:p>
            <a:pPr indent="0" lvl="0" marL="0" rtl="0" algn="l">
              <a:spcBef>
                <a:spcPts val="0"/>
              </a:spcBef>
              <a:spcAft>
                <a:spcPts val="0"/>
              </a:spcAft>
              <a:buNone/>
            </a:pPr>
            <a:r>
              <a:rPr lang="en"/>
              <a:t>3. Warren Buffet </a:t>
            </a:r>
            <a:r>
              <a:rPr lang="en">
                <a:solidFill>
                  <a:srgbClr val="222222"/>
                </a:solidFill>
              </a:rPr>
              <a:t>"A low-cost </a:t>
            </a:r>
            <a:r>
              <a:rPr b="1" lang="en">
                <a:solidFill>
                  <a:srgbClr val="222222"/>
                </a:solidFill>
              </a:rPr>
              <a:t>index fund</a:t>
            </a:r>
            <a:r>
              <a:rPr lang="en">
                <a:solidFill>
                  <a:srgbClr val="222222"/>
                </a:solidFill>
              </a:rPr>
              <a:t> is the most sensible equity </a:t>
            </a:r>
            <a:r>
              <a:rPr b="1" lang="en">
                <a:solidFill>
                  <a:srgbClr val="222222"/>
                </a:solidFill>
              </a:rPr>
              <a:t>investment</a:t>
            </a:r>
            <a:r>
              <a:rPr lang="en">
                <a:solidFill>
                  <a:srgbClr val="222222"/>
                </a:solidFill>
              </a:rPr>
              <a:t> for the great majority of investors,"</a:t>
            </a:r>
            <a:endParaRPr/>
          </a:p>
          <a:p>
            <a:pPr indent="0" lvl="0" marL="0" rtl="0" algn="l">
              <a:spcBef>
                <a:spcPts val="0"/>
              </a:spcBef>
              <a:spcAft>
                <a:spcPts val="0"/>
              </a:spcAft>
              <a:buNone/>
            </a:pPr>
            <a:r>
              <a:rPr lang="en"/>
              <a:t>4. If you don’t believe a man who has been the richest in the world, then take Jack</a:t>
            </a:r>
            <a:r>
              <a:rPr lang="en">
                <a:solidFill>
                  <a:schemeClr val="dk1"/>
                </a:solidFill>
              </a:rPr>
              <a:t> Ryan’s word, </a:t>
            </a:r>
            <a:r>
              <a:rPr lang="en">
                <a:solidFill>
                  <a:srgbClr val="333333"/>
                </a:solidFill>
                <a:latin typeface="Trebuchet MS"/>
                <a:ea typeface="Trebuchet MS"/>
                <a:cs typeface="Trebuchet MS"/>
                <a:sym typeface="Trebuchet MS"/>
              </a:rPr>
              <a:t>"The secret is to get yourself a really good S&amp;P 500 Index fund”</a:t>
            </a:r>
            <a:endParaRPr>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a:t>5. This is game, so you don’t need to follow the rules.  Have fun &amp; learn from no cost mistakes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Game Lessons</a:t>
            </a:r>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Index Funds are made of parts of many other stocks, so all the companies would have to go out of business for you to lose all your money</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Index Funds can be made of garbage, just because it is a fund or indexed does not make it good</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Index Funds are often low cost, but not all are</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Index Funds that track the broad stock market, like a S&amp;P 500 fund in the game, historically always gain more money in the long-term than many other investments, including CDs, bank accounts, &amp; most stocks</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Index Funds are not something you need to </a:t>
            </a:r>
            <a:r>
              <a:rPr b="1" lang="en" sz="1000">
                <a:solidFill>
                  <a:srgbClr val="333333"/>
                </a:solidFill>
                <a:latin typeface="Trebuchet MS"/>
                <a:ea typeface="Trebuchet MS"/>
                <a:cs typeface="Trebuchet MS"/>
                <a:sym typeface="Trebuchet MS"/>
              </a:rPr>
              <a:t>completely</a:t>
            </a:r>
            <a:r>
              <a:rPr lang="en" sz="1000">
                <a:solidFill>
                  <a:srgbClr val="333333"/>
                </a:solidFill>
                <a:latin typeface="Trebuchet MS"/>
                <a:ea typeface="Trebuchet MS"/>
                <a:cs typeface="Trebuchet MS"/>
                <a:sym typeface="Trebuchet MS"/>
              </a:rPr>
              <a:t> understand before investing into  </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This game only uses companies that have not declared bankruptcy</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Individual stocks can lose you all your investment, as those companies can go out of business</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333333"/>
                </a:solidFill>
                <a:latin typeface="Trebuchet MS"/>
                <a:ea typeface="Trebuchet MS"/>
                <a:cs typeface="Trebuchet MS"/>
                <a:sym typeface="Trebuchet MS"/>
              </a:rPr>
              <a:t>It is highly illegal to trade stocks or funds based on information only company insiders should know</a:t>
            </a:r>
            <a:endParaRPr sz="1000">
              <a:solidFill>
                <a:srgbClr val="333333"/>
              </a:solidFill>
              <a:latin typeface="Trebuchet MS"/>
              <a:ea typeface="Trebuchet MS"/>
              <a:cs typeface="Trebuchet MS"/>
              <a:sym typeface="Trebuchet MS"/>
            </a:endParaRPr>
          </a:p>
          <a:p>
            <a:pPr indent="0" lvl="0" marL="0" rtl="0" algn="l">
              <a:spcBef>
                <a:spcPts val="0"/>
              </a:spcBef>
              <a:spcAft>
                <a:spcPts val="0"/>
              </a:spcAft>
              <a:buClr>
                <a:schemeClr val="dk1"/>
              </a:buClr>
              <a:buSzPts val="1100"/>
              <a:buFont typeface="Arial"/>
              <a:buNone/>
            </a:pPr>
            <a:r>
              <a:t/>
            </a:r>
            <a:endParaRPr sz="1000">
              <a:solidFill>
                <a:srgbClr val="333333"/>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nvSpPr>
        <p:spPr>
          <a:xfrm>
            <a:off x="370950" y="185475"/>
            <a:ext cx="7604700" cy="431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Rules</a:t>
            </a:r>
            <a:endParaRPr/>
          </a:p>
          <a:p>
            <a:pPr indent="0" lvl="0" marL="0" rtl="0" algn="l">
              <a:spcBef>
                <a:spcPts val="0"/>
              </a:spcBef>
              <a:spcAft>
                <a:spcPts val="0"/>
              </a:spcAft>
              <a:buNone/>
            </a:pPr>
            <a:r>
              <a:rPr lang="en"/>
              <a:t>-Pick your investments</a:t>
            </a:r>
            <a:endParaRPr/>
          </a:p>
          <a:p>
            <a:pPr indent="0" lvl="0" marL="0" rtl="0" algn="l">
              <a:spcBef>
                <a:spcPts val="0"/>
              </a:spcBef>
              <a:spcAft>
                <a:spcPts val="0"/>
              </a:spcAft>
              <a:buNone/>
            </a:pPr>
            <a:r>
              <a:rPr lang="en"/>
              <a:t>-Advancing will bring you to a randomized year of performance returns</a:t>
            </a:r>
            <a:endParaRPr/>
          </a:p>
          <a:p>
            <a:pPr indent="0" lvl="0" marL="0" rtl="0" algn="l">
              <a:spcBef>
                <a:spcPts val="0"/>
              </a:spcBef>
              <a:spcAft>
                <a:spcPts val="0"/>
              </a:spcAft>
              <a:buNone/>
            </a:pPr>
            <a:r>
              <a:rPr lang="en"/>
              <a:t>CD gains taxed at your normal income tax rate</a:t>
            </a:r>
            <a:endParaRPr/>
          </a:p>
          <a:p>
            <a:pPr indent="0" lvl="0" marL="0" rtl="0" algn="l">
              <a:spcBef>
                <a:spcPts val="0"/>
              </a:spcBef>
              <a:spcAft>
                <a:spcPts val="0"/>
              </a:spcAft>
              <a:buNone/>
            </a:pPr>
            <a:r>
              <a:rPr lang="en"/>
              <a:t>Stocks &amp; funds held less than a year </a:t>
            </a:r>
            <a:r>
              <a:rPr lang="en">
                <a:solidFill>
                  <a:schemeClr val="dk1"/>
                </a:solidFill>
              </a:rPr>
              <a:t>taxed at your normal income tax rate</a:t>
            </a:r>
            <a:endParaRPr>
              <a:solidFill>
                <a:schemeClr val="dk1"/>
              </a:solidFill>
            </a:endParaRPr>
          </a:p>
          <a:p>
            <a:pPr indent="0" lvl="0" marL="0" rtl="0" algn="l">
              <a:spcBef>
                <a:spcPts val="0"/>
              </a:spcBef>
              <a:spcAft>
                <a:spcPts val="0"/>
              </a:spcAft>
              <a:buNone/>
            </a:pPr>
            <a:r>
              <a:rPr lang="en">
                <a:solidFill>
                  <a:schemeClr val="dk1"/>
                </a:solidFill>
              </a:rPr>
              <a:t>Stocks &amp; funds held more than a year taxed 0%, 15%, or 20% (</a:t>
            </a:r>
            <a:r>
              <a:rPr lang="en" u="sng">
                <a:solidFill>
                  <a:schemeClr val="hlink"/>
                </a:solidFill>
                <a:hlinkClick r:id="rId3"/>
              </a:rPr>
              <a:t>https://www.nerdwallet.com/blog/taxes/capital-gains-tax-rates/</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